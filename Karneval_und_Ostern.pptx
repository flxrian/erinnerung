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d5ce03dd-8ad4-bf17-e4ae-51dbba6612d2}">
          <p14:sldIdLst>
            <p14:sldId id="256"/>
            <p14:sldId id="257"/>
          </p14:sldIdLst>
        </p14:section>
        <p14:section name="Karneval" id="{2d5ba4dc-30bc-6cde-b307-830ca5d4acb1}">
          <p14:sldIdLst>
            <p14:sldId id="258"/>
            <p14:sldId id="259"/>
            <p14:sldId id="260"/>
            <p14:sldId id="261"/>
          </p14:sldIdLst>
        </p14:section>
        <p14:section name="Fastenzeit" id="{6176e311-c657-0077-ee01-b89400fd124a}">
          <p14:sldIdLst>
            <p14:sldId id="262"/>
            <p14:sldId id="263"/>
          </p14:sldIdLst>
        </p14:section>
        <p14:section name="Ostern" id="{c7b976db-f471-09a0-af9c-0e08e47a721a}">
          <p14:sldIdLst>
            <p14:sldId id="264"/>
            <p14:sldId id="265"/>
            <p14:sldId id="266"/>
            <p14:sldId id="267"/>
          </p14:sldIdLst>
        </p14:section>
        <p14:section name="Andere Religionen" id="{ca052857-5e15-e541-23b3-446d914617d8}">
          <p14:sldIdLst>
            <p14:sldId id="268"/>
            <p14:sldId id="269"/>
            <p14:sldId id="270"/>
            <p14:sldId id="271"/>
            <p14:sldId id="272"/>
          </p14:sldIdLst>
        </p14:section>
        <p14:section name="Abschluss" id="{7004ece1-5294-cdb2-39c7-c76a9ef6694b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Untertitel</a:t>
            </a:r>
            <a:endParaRPr lang="en-US" sz="13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spc="3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spc="300" kern="0" dirty="0">
                <a:solidFill>
                  <a:schemeClr val="bg1"/>
                </a:solidFill>
              </a:rPr>
              <a:t>Name · Klasse · Datum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Einleitung</a:t>
            </a:r>
            <a:endParaRPr lang="en-US" sz="18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rech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link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Titel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ingab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tx1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tx2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Zitat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Deine Antwort / dein Fazit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11155680" y="347472"/>
            <a:ext cx="566928" cy="329184"/>
          </a:xfrm>
          <a:prstGeom prst="rect">
            <a:avLst/>
          </a:prstGeom>
          <a:ln w="9525">
            <a:solidFill>
              <a:schemeClr val="bg1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640080" y="63825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chemeClr val="bg1"/>
                </a:solidFill>
              </a:rPr>
              <a:t>KARNEVAL &amp; OSTERN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nk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spc="600" kern="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Fragen?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rzbistum-koeln.de/presse_und_medien/magazin/Karneval-Ursprung-Bedeutung-und-Brauchtum-des-Karnevals/" TargetMode="External"/><Relationship Id="rId2" Type="http://schemas.openxmlformats.org/officeDocument/2006/relationships/hyperlink" Target="https://www.zdfheute.de/wissen/ostern-feiertage-karfreitag-karwoche-palmsonntag-100.html" TargetMode="External"/><Relationship Id="rId3" Type="http://schemas.openxmlformats.org/officeDocument/2006/relationships/hyperlink" Target="https://www.bpb.de/kurz-knapp/taegliche-dosis-politik/559978/ramadan/" TargetMode="External"/><Relationship Id="rId4" Type="http://schemas.openxmlformats.org/officeDocument/2006/relationships/hyperlink" Target="https://www.bpb.de/lernen/angebote/grafstat/projekt-integration/134726/m-06-06-gemeinsam-religioese-feste-feiern/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1527048" y="2514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spc="9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</a:t>
            </a:r>
            <a:endParaRPr lang="en-US" sz="36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FESTE IM CHRISTLICHEN JAHRESKREIS</a:t>
            </a:r>
            <a:endParaRPr lang="en-US" sz="1300" dirty="0"/>
          </a:p>
        </p:txBody>
      </p:sp>
      <p:sp>
        <p:nvSpPr>
          <p:cNvPr id="9" name="Text 0"/>
          <p:cNvSpPr/>
          <p:nvPr>
            <p:ph idx="102" type="body" hasCustomPrompt="1"/>
          </p:nvPr>
        </p:nvSpPr>
        <p:spPr>
          <a:xfrm>
            <a:off x="244144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114800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453128" y="5029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617720" y="3383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INHALT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659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65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Karneval &amp; Fastnacht</a:t>
            </a:r>
            <a:endParaRPr lang="en-US" sz="1800" dirty="0"/>
          </a:p>
        </p:txBody>
      </p:sp>
      <p:sp>
        <p:nvSpPr>
          <p:cNvPr id="9" name="Linie"/>
          <p:cNvSpPr/>
          <p:nvPr/>
        </p:nvSpPr>
        <p:spPr>
          <a:xfrm>
            <a:off x="6080760" y="2825496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80760" y="29900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9900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Von Aschermittwoch bis Ostersonntag</a:t>
            </a:r>
            <a:endParaRPr lang="en-US" sz="1800" dirty="0"/>
          </a:p>
        </p:txBody>
      </p:sp>
      <p:sp>
        <p:nvSpPr>
          <p:cNvPr id="12" name="Linie"/>
          <p:cNvSpPr/>
          <p:nvPr/>
        </p:nvSpPr>
        <p:spPr>
          <a:xfrm>
            <a:off x="6080760" y="3849624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80760" y="40142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01421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Ostern, Osterei &amp; Osterhase</a:t>
            </a:r>
            <a:endParaRPr lang="en-US" sz="1800" dirty="0"/>
          </a:p>
        </p:txBody>
      </p:sp>
      <p:sp>
        <p:nvSpPr>
          <p:cNvPr id="15" name="Linie"/>
          <p:cNvSpPr/>
          <p:nvPr/>
        </p:nvSpPr>
        <p:spPr>
          <a:xfrm>
            <a:off x="6080760" y="4873752"/>
            <a:ext cx="54864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80760" y="50383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50383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Andere Religionen &amp; Arbeitsalltag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01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Köln" descr="p2/half-koel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NAMEN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55778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FASTNACHT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Der Name bedeutet wörtlich die „Nacht bzw. Zeit vor dem Fasten“ und verdeutlicht die direkte Abhängigkeit beider Traditionen.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KARNEVAL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Meist erklärt mit „carne vale“ = „Fleisch, lebe wohl!“, denn in der Fastenzeit aß man kein Fleisch.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ABER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Ganz sicher ist das nicht. Eine andere Idee: „carrus navalis“, ein Schiffswagen bei Frühlingsumzügen in der Antike.</a:t>
            </a:r>
            <a:endParaRPr lang="en-US" sz="1100" dirty="0"/>
          </a:p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SEIT WANN?</a:t>
            </a:r>
            <a:endParaRPr lang="en-US" sz="11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Das Wort „Karneval“ gibt es seit dem 17. Jahrhundert.</a:t>
            </a:r>
            <a:endParaRPr lang="en-US" sz="11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8229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kommen die Namen?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807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KARNEVAL · KIRCHE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Warum wird vor der Fastenzeit gefeiert?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Noch einmal feiern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Rollen tauschen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Mit dem Aschermittwoch ist der Karneval vorbei. Jetzt beginnt die 40-tägige Fastenzeit bis Ostern.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und Fastenzeit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KARNEVAL · GESCHICHTE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1341</a:t>
            </a:r>
            <a:endParaRPr lang="en-US" sz="24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EIDBUCH DER STADT KÖLN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„Fastelovend“, das kölsche Wort für Fastnacht, wird hier zum ersten Mal schriftlich erwähnt.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336042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1823</a:t>
            </a:r>
            <a:endParaRPr lang="en-US" sz="2400" dirty="0"/>
          </a:p>
        </p:txBody>
      </p:sp>
      <p:sp>
        <p:nvSpPr>
          <p:cNvPr id="9" name="Punkt 2"/>
          <p:cNvSpPr/>
          <p:nvPr/>
        </p:nvSpPr>
        <p:spPr>
          <a:xfrm>
            <a:off x="336042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6042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FESTORDNENDES COMITEE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36042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In Köln gründet sich das Komitee. Der „Held Carneval“ steht an der Spitze – daraus wird später der Prinz.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Weiberfastnacht</a:t>
            </a:r>
            <a:endParaRPr lang="en-US" sz="2400" dirty="0"/>
          </a:p>
        </p:txBody>
      </p:sp>
      <p:sp>
        <p:nvSpPr>
          <p:cNvPr id="13" name="Punkt 3"/>
          <p:cNvSpPr/>
          <p:nvPr/>
        </p:nvSpPr>
        <p:spPr>
          <a:xfrm>
            <a:off x="608076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8076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BEUELER WÄSCHERINNEN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Vor über 180 Jahren wehrten sich Wäscherinnen in Beuel gegen ihre harte Arbeit. Heute stürmen Frauen das Rathaus.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801100" y="2148840"/>
            <a:ext cx="2491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Rosenmontag</a:t>
            </a:r>
            <a:endParaRPr lang="en-US" sz="2400" dirty="0"/>
          </a:p>
        </p:txBody>
      </p:sp>
      <p:sp>
        <p:nvSpPr>
          <p:cNvPr id="17" name="Punkt 4"/>
          <p:cNvSpPr/>
          <p:nvPr/>
        </p:nvSpPr>
        <p:spPr>
          <a:xfrm>
            <a:off x="880110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01100" y="3383280"/>
            <a:ext cx="2491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VOM „ROSENSONNTAG“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801100" y="3931920"/>
            <a:ext cx="24460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Am Rosensonntag verlieh der Papst eine goldene Rose. Das Komitee tagte am Montag danach – daher der Name.</a:t>
            </a:r>
            <a:endParaRPr lang="en-US" sz="1450" dirty="0"/>
          </a:p>
        </p:txBody>
      </p:sp>
      <p:sp>
        <p:nvSpPr>
          <p:cNvPr id="2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in Köln – ein Blick zurück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Erzbistum Köln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02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Der Weg von Aschermittwoch bis Ostersonntag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822960"/>
            <a:ext cx="42062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1000" kern="0" dirty="0">
                <a:solidFill>
                  <a:schemeClr val="accent5"/>
                </a:solidFill>
              </a:rPr>
              <a:t>TAGE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2 · ZEITSTRAHL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29184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Aschermittwoch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FASTENZEIT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Der Karneval ist vorbei. Im Gottesdienst gibt es ein Kreuz aus Asche auf die Stirn.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BEGINN DER KARWOCHE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 und wird bejubelt.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ERINNERUNG AN DAS LETZTE ABENDMAHL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feiert mit seinen Jüngern das letzte Abendmahl.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 JESU CHRISTI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Todestag Jesu. Viele Gottesdienste beginnen um 15 Uhr.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33172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20954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56616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 JESU CHRISTI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411480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Das höchste christliche Fest.</a:t>
            </a:r>
            <a:endParaRPr lang="en-US" sz="1350" dirty="0"/>
          </a:p>
        </p:txBody>
      </p:sp>
      <p:sp>
        <p:nvSpPr>
          <p:cNvPr id="24" name="Linie"/>
          <p:cNvSpPr/>
          <p:nvPr/>
        </p:nvSpPr>
        <p:spPr>
          <a:xfrm>
            <a:off x="640080" y="2011680"/>
            <a:ext cx="8430768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5" name="Linie"/>
          <p:cNvSpPr/>
          <p:nvPr/>
        </p:nvSpPr>
        <p:spPr>
          <a:xfrm>
            <a:off x="640080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6" name="Linie"/>
          <p:cNvSpPr/>
          <p:nvPr/>
        </p:nvSpPr>
        <p:spPr>
          <a:xfrm>
            <a:off x="9070848" y="2011680"/>
            <a:ext cx="0" cy="13716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1719072"/>
            <a:ext cx="8430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chemeClr val="accent1"/>
                </a:solidFill>
              </a:rPr>
              <a:t>FASTENZEIT · 40 TAGE</a:t>
            </a:r>
            <a:endParaRPr lang="en-US" sz="10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Aschermittwoch bis Ostersonntag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Mitschrift (14.10.2026); Erzbistum Köln;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03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Das Fest der Auferstehung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Ostereier" descr="p2/half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502920" y="502920"/>
            <a:ext cx="4416552" cy="585216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4754880" y="63550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919472" y="61904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BEDEUTUNG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783080"/>
            <a:ext cx="5394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DAS HÖCHSTE FEST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Ostern ist das höchste christliche Fest.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AUFERSTEHUNG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Gefeiert wird die Auferstehung Jesu am dritten Tag nach seinem Tod am Kreuz.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KARFREITAG &amp; OSTERSONNTAG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Karfreitag ist der Todestag, Ostersonntag der Tag der Auferstehung.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WANN?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Am Sonntag nach dem ersten Frühlingsvollmond.</a:t>
            </a:r>
            <a:endParaRPr lang="en-US" sz="1050" dirty="0"/>
          </a:p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ÖSTERLICHE FREUDENZEIT</a:t>
            </a:r>
            <a:endParaRPr lang="en-US" sz="10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Sie beginnt mit der Nacht zum Ostersonntag und dauert bis Pfingsten.</a:t>
            </a:r>
            <a:endParaRPr lang="en-US" sz="105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080760" y="822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Bedeutung von Ostern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Wikipedia, Artikel „Ostern“ (abgerufen am 12.10.2026)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OSTERN · KARWOCHE</a:t>
            </a:r>
            <a:endParaRPr lang="en-US" sz="1100" dirty="0"/>
          </a:p>
        </p:txBody>
      </p:sp>
      <p:sp>
        <p:nvSpPr>
          <p:cNvPr id="3" name="Linie"/>
          <p:cNvSpPr/>
          <p:nvPr/>
        </p:nvSpPr>
        <p:spPr>
          <a:xfrm>
            <a:off x="640080" y="3108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Palmsonntag</a:t>
            </a:r>
            <a:endParaRPr lang="en-US" sz="1900" dirty="0"/>
          </a:p>
        </p:txBody>
      </p:sp>
      <p:sp>
        <p:nvSpPr>
          <p:cNvPr id="5" name="Punkt 1"/>
          <p:cNvSpPr/>
          <p:nvPr/>
        </p:nvSpPr>
        <p:spPr>
          <a:xfrm>
            <a:off x="640080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EINZUG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zieht auf einem Esel in Jerusalem ein. Die Menschen jubeln ihm zu.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Gründonnerstag</a:t>
            </a:r>
            <a:endParaRPr lang="en-US" sz="1900" dirty="0"/>
          </a:p>
        </p:txBody>
      </p:sp>
      <p:sp>
        <p:nvSpPr>
          <p:cNvPr id="9" name="Punkt 2"/>
          <p:cNvSpPr/>
          <p:nvPr/>
        </p:nvSpPr>
        <p:spPr>
          <a:xfrm>
            <a:off x="2816352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816352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ABENDMAHL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Letztes Abendmahl mit den Jüngern. „Grün“ kommt wohl von einem alten Wort für Weinen.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Karfreitag</a:t>
            </a:r>
            <a:endParaRPr lang="en-US" sz="1900" dirty="0"/>
          </a:p>
        </p:txBody>
      </p:sp>
      <p:sp>
        <p:nvSpPr>
          <p:cNvPr id="13" name="Punkt 3"/>
          <p:cNvSpPr/>
          <p:nvPr/>
        </p:nvSpPr>
        <p:spPr>
          <a:xfrm>
            <a:off x="4992624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92624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KREUZIGUNG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992624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Leiden und Tod Jesu am Kreuz. Strenger Fast- und Bußtag.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Karsamstag</a:t>
            </a:r>
            <a:endParaRPr lang="en-US" sz="1900" dirty="0"/>
          </a:p>
        </p:txBody>
      </p:sp>
      <p:sp>
        <p:nvSpPr>
          <p:cNvPr id="17" name="Punkt 4"/>
          <p:cNvSpPr/>
          <p:nvPr/>
        </p:nvSpPr>
        <p:spPr>
          <a:xfrm>
            <a:off x="7168896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68896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GRABESRUHE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168896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Christen denken an die Grablegung Jesu.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345168" y="2148840"/>
            <a:ext cx="1947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Ostersonntag</a:t>
            </a:r>
            <a:endParaRPr lang="en-US" sz="1900" dirty="0"/>
          </a:p>
        </p:txBody>
      </p:sp>
      <p:sp>
        <p:nvSpPr>
          <p:cNvPr id="21" name="Punkt 5"/>
          <p:cNvSpPr/>
          <p:nvPr/>
        </p:nvSpPr>
        <p:spPr>
          <a:xfrm>
            <a:off x="9345168" y="3026664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45168" y="33832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chemeClr val="accent1"/>
                </a:solidFill>
              </a:rPr>
              <a:t>AUFERSTEHUNG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345168" y="3931920"/>
            <a:ext cx="19019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Jesus ist auferstanden – der Höhepunkt des Kirchenjahres.</a:t>
            </a:r>
            <a:endParaRPr lang="en-US" sz="1350" dirty="0"/>
          </a:p>
        </p:txBody>
      </p:sp>
      <p:sp>
        <p:nvSpPr>
          <p:cNvPr id="2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Karwoche im Detail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Quelle: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4 · RELIGIÖS ODER KULTURELL?</a:t>
            </a:r>
            <a:endParaRPr lang="en-US" sz="1100" dirty="0"/>
          </a:p>
        </p:txBody>
      </p:sp>
      <p:pic>
        <p:nvPicPr>
          <p:cNvPr id="3" name="Foto Osterei" descr="p2/sq-ei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1600200" cy="1600200"/>
          </a:xfrm>
          <a:prstGeom prst="rect">
            <a:avLst/>
          </a:prstGeom>
        </p:spPr>
      </p:pic>
      <p:sp>
        <p:nvSpPr>
          <p:cNvPr id="4" name="Rahmen"/>
          <p:cNvSpPr/>
          <p:nvPr/>
        </p:nvSpPr>
        <p:spPr>
          <a:xfrm>
            <a:off x="74980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25146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RELIGIÖS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Neubeginn: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Das Ei ist ein Symbol für Neubeginn und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Christentum: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Es wird mit der Auferstehung Jesu Christi verbunden.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Fastenzeit: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Eier durften nicht gegessen werden – man bewahrte sie bis Ostern auf.</a:t>
            </a:r>
            <a:endParaRPr lang="en-US" sz="1400" dirty="0"/>
          </a:p>
        </p:txBody>
      </p:sp>
      <p:pic>
        <p:nvPicPr>
          <p:cNvPr id="8" name="Foto Osterhase" descr="p2/sq-has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37360"/>
            <a:ext cx="1600200" cy="1600200"/>
          </a:xfrm>
          <a:prstGeom prst="rect">
            <a:avLst/>
          </a:prstGeom>
        </p:spPr>
      </p:pic>
      <p:sp>
        <p:nvSpPr>
          <p:cNvPr id="9" name="Rahmen"/>
          <p:cNvSpPr/>
          <p:nvPr/>
        </p:nvSpPr>
        <p:spPr>
          <a:xfrm>
            <a:off x="6373368" y="1847088"/>
            <a:ext cx="1380744" cy="1380744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3816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EHER KULTURELL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263640" y="356616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Maskottchen: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Der Hase ist an Ostern sehr beliebt geworden und vermittelt gute Werte.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Fruchtbarkeit: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Hasen bekommen viele Junge – ein Symbol für neues Leben.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Frühling:</a:t>
            </a:r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 Ostern fällt in die Zeit, in der die Natur wieder erwacht.</a:t>
            </a:r>
            <a:endParaRPr lang="en-US" sz="1400" dirty="0"/>
          </a:p>
        </p:txBody>
      </p:sp>
      <p:sp>
        <p:nvSpPr>
          <p:cNvPr id="13" name="Linie"/>
          <p:cNvSpPr/>
          <p:nvPr/>
        </p:nvSpPr>
        <p:spPr>
          <a:xfrm>
            <a:off x="6099048" y="1783080"/>
            <a:ext cx="0" cy="347472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54864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FAZIT  </a:t>
            </a:r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Ostern erinnert an die Auferstehung Jesu Christi. Die Bräuche um Ei und Hase entwickelten sich durch verschiedene Traditionen und Volkskultur.</a:t>
            </a:r>
            <a:endParaRPr lang="en-US" sz="11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Osterei &amp; Osterhase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ZDFheute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594360" y="1965960"/>
            <a:ext cx="7315200" cy="31089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7744968" y="19659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909560" y="18013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KAPITEL 04 · ANDERE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914400" y="26060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spc="8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RELIGIONEN</a:t>
            </a:r>
            <a:endParaRPr lang="en-US" sz="5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914400" y="39319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Fasten, Feiern, Gemeinschaft und Neuanfang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accent5"/>
                </a:solidFill>
              </a:rPr>
              <a:t>ISLAM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3154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JUDENTUM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3931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spc="800" kern="0" dirty="0">
                <a:solidFill>
                  <a:schemeClr val="bg1"/>
                </a:solidFill>
              </a:rPr>
              <a:t>HINDUISMUS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WELTRELIGIONEN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Fastenmonat: tagsüber kein Essen und Trinken. Nach Sonnenuntergang wird das Fasten gebrochen, oft mit einer Dattel oder Wasser. Am Ende steht das Fest des Fastenbrechens.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JUDENTUM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Der Versöhnungstag zwischen Gott und dem Volk Israel – mit Fasten und Gebet. Die Synagogen sind so voll, dass viele stehen müssen.</a:t>
            </a:r>
            <a:endParaRPr lang="en-US" sz="1450" dirty="0"/>
          </a:p>
        </p:txBody>
      </p:sp>
      <p:sp>
        <p:nvSpPr>
          <p:cNvPr id="11" name="Linie"/>
          <p:cNvSpPr/>
          <p:nvPr/>
        </p:nvSpPr>
        <p:spPr>
          <a:xfrm>
            <a:off x="411480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8288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HINDUISMUS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0" y="3017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7033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2"/>
                </a:solidFill>
              </a:rPr>
              <a:t>Großes Fest: zehn Tage, die ersten vier feiern die Gläubigen gemeinsam. Die Göttin Durga wird eingeladen, dabei zu sein.</a:t>
            </a:r>
            <a:endParaRPr lang="en-US" sz="1450" dirty="0"/>
          </a:p>
        </p:txBody>
      </p:sp>
      <p:sp>
        <p:nvSpPr>
          <p:cNvPr id="16" name="Linie"/>
          <p:cNvSpPr/>
          <p:nvPr/>
        </p:nvSpPr>
        <p:spPr>
          <a:xfrm>
            <a:off x="7818120" y="1920240"/>
            <a:ext cx="0" cy="402336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7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Ähnliche Feste in anderen Religionen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ISLAM IM DETAIL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FASTENMONAT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Was?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neunte Monat des islamischen Kalenders. Mohammed erhielt in diesem Monat die ersten Offenbarungen des Korans.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Fasten: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Von der Morgendämmerung bis Sonnenuntergang kein Essen, Trinken und Rauchen. Kinder, Kranke und Reisende sind befreit.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Suhur &amp; Iftar: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Mahlzeit vor dem Fasten – nach Sonnenuntergang Fastenbrechen, oft mit Wasser und Datteln.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Glaube &amp; Gemeinschaft: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mehr beten, im Koran lesen, spenden und abends gemeinsam essen.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Dauer: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29 oder 30 Tage – verschiebt sich jedes Jahr, weil der Kalender sich nach dem Mond richtet.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 · FEST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965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Zuckerfest (Eid al-Fitr)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2651760"/>
            <a:ext cx="51206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 des Ramadan: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eines der wichtigsten Feste im Islam.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Gebet: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Der Tag beginnt mit einem besonderen Gebet in der Moschee oder auf einem Gebetsplatz.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Festessen: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besondere Gerichte und Süßigkeiten – daher der Name „Zuckerfest“.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Familie &amp; Geschenke: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Verwandte besuchen, festliche Kleidung; Kinder bekommen Geld oder kleine Geschenke.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Zakat al-Fitr: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Spende vor dem Fest, damit auch arme Menschen feiern können.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6099048" y="1737360"/>
            <a:ext cx="0" cy="44348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Ramadan und Zuckerfest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eigene Ausarbeitung;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5 · VERGLEICH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CHRISTENTUM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Fastenzeit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086600" y="178308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ISLAM</a:t>
            </a:r>
            <a:endParaRPr lang="en-US" sz="10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Ramadan</a:t>
            </a:r>
            <a:endParaRPr lang="en-US" sz="1000" dirty="0"/>
          </a:p>
        </p:txBody>
      </p:sp>
      <p:sp>
        <p:nvSpPr>
          <p:cNvPr id="5" name="Linie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DAUER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916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40 Tage von Aschermittwoch bis Ostern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291693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Ein Monat – er beginnt, wenn abends die Mondsichel sichtbar ist</a:t>
            </a:r>
            <a:endParaRPr lang="en-US" sz="1450" dirty="0"/>
          </a:p>
        </p:txBody>
      </p:sp>
      <p:sp>
        <p:nvSpPr>
          <p:cNvPr id="9" name="Linie"/>
          <p:cNvSpPr/>
          <p:nvPr/>
        </p:nvSpPr>
        <p:spPr>
          <a:xfrm>
            <a:off x="640080" y="365760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221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VERZICHT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37856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Früher vor allem auf Fleisch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378561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Tagsüber kein Essen und Trinken; Kranke, Kinder und Reisende sind befreit</a:t>
            </a:r>
            <a:endParaRPr lang="en-US" sz="1450" dirty="0"/>
          </a:p>
        </p:txBody>
      </p:sp>
      <p:sp>
        <p:nvSpPr>
          <p:cNvPr id="13" name="Linie"/>
          <p:cNvSpPr/>
          <p:nvPr/>
        </p:nvSpPr>
        <p:spPr>
          <a:xfrm>
            <a:off x="640080" y="4526280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690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tx2"/>
                </a:solidFill>
              </a:rPr>
              <a:t>ENDE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65429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Ostern, das höchste Fest der Christen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654296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Fest des Fastenbrechens, vorher eine Spende an Arme (Zakat-ul-fitr)</a:t>
            </a:r>
            <a:endParaRPr lang="en-US" sz="1450" dirty="0"/>
          </a:p>
        </p:txBody>
      </p:sp>
      <p:sp>
        <p:nvSpPr>
          <p:cNvPr id="17" name="Linie"/>
          <p:cNvSpPr/>
          <p:nvPr/>
        </p:nvSpPr>
        <p:spPr>
          <a:xfrm>
            <a:off x="640080" y="5394960"/>
            <a:ext cx="1088136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VS"/>
          <p:cNvSpPr/>
          <p:nvPr/>
        </p:nvSpPr>
        <p:spPr>
          <a:xfrm>
            <a:off x="6537960" y="1920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379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chemeClr val="accent1"/>
                </a:solidFill>
              </a:rPr>
              <a:t>GEMEINSAM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Verzicht als Vorbereitung – und am Ende ein großes Fest in Gemeinschaft.</a:t>
            </a:r>
            <a:endParaRPr lang="en-US" sz="11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Fastenzeit und Ramadan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Erzbistum Köln;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AUFGABE 5 · FAZIT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Drei Gemeinsamkeiten zwischen den Religionen</a:t>
            </a:r>
            <a:endParaRPr lang="en-US" sz="1500" dirty="0"/>
          </a:p>
        </p:txBody>
      </p:sp>
      <p:sp>
        <p:nvSpPr>
          <p:cNvPr id="4" name="Plus"/>
          <p:cNvSpPr/>
          <p:nvPr/>
        </p:nvSpPr>
        <p:spPr>
          <a:xfrm>
            <a:off x="3858768" y="6035040"/>
            <a:ext cx="32918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4023360" y="5870448"/>
            <a:ext cx="0" cy="329184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663440" y="9144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93268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Fasten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Fastenzeit und Ramadan: bewusster Verzicht als Vorbereitung auf ein großes Fest.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663440" y="239572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606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262432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Gemeinschaft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Ostern, das Fest des Fastenbrechens und Durga Puja feiert man gemeinsam mit Familie und Gemeinde.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4663440" y="4087368"/>
            <a:ext cx="685800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4297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43159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Neuanfang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Ostern steht für neues Leben, Jom Kippur für Versöhnung, Umkehr und einen neuen Anfang.</a:t>
            </a:r>
            <a:endParaRPr lang="en-US" sz="1500" dirty="0"/>
          </a:p>
        </p:txBody>
      </p:sp>
      <p:sp>
        <p:nvSpPr>
          <p:cNvPr id="17" name="Text 1"/>
          <p:cNvSpPr/>
          <p:nvPr>
            <p:ph idx="101" type="title" hasCustomPrompt="1"/>
          </p:nvPr>
        </p:nvSpPr>
        <p:spPr>
          <a:xfrm>
            <a:off x="640080" y="21945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verbindet die Feste?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aske" descr="p2/half-mas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Rahmen"/>
          <p:cNvSpPr/>
          <p:nvPr/>
        </p:nvSpPr>
        <p:spPr>
          <a:xfrm>
            <a:off x="7269480" y="548640"/>
            <a:ext cx="4389120" cy="576072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7104888" y="63093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7269480" y="61447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6 · AUSGANGSSITUATION</a:t>
            </a:r>
            <a:endParaRPr lang="en-US" sz="1100" dirty="0"/>
          </a:p>
        </p:txBody>
      </p:sp>
      <p:sp>
        <p:nvSpPr>
          <p:cNvPr id="7" name="Feld Kundenantwort"/>
          <p:cNvSpPr/>
          <p:nvPr/>
        </p:nvSpPr>
        <p:spPr>
          <a:xfrm>
            <a:off x="640080" y="1691640"/>
            <a:ext cx="5577840" cy="4343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AUFGABE 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103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Antwort an den Kunden</a:t>
            </a:r>
            <a:endParaRPr lang="en-US" sz="19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Arbeitsalltag</a:t>
            </a:r>
            <a:endParaRPr lang="en-US" sz="28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44652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AUFGABE 7 · MEIN AUSBILDUNGSBETRIEB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AB WANN?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Saisonware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Osterware: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ab Mitte Februar in den Filialen. Die Schoko-Hasen werden schon ab Mitte Dezember produziert und kommen Ende Januar ins Lager.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Kostüme als Aktionsware – 2026 z. B. Kinderkostüme ab 5. Februar für 6,99 €.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WAS LÄUFT?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Aktionen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Ostern: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Kampagne „Wer Ostern sucht, findet es bei ALDI“ (2025, TV, Kino, Radio, online), Schoko-Osterhase für 1,49 €, Preissenkungen vor Ostern.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Kamelle in Großpackungen, Berliner; 2024 brachte meinALDI Kamelle zum Mülheimer Rosenmontagszug.</a:t>
            </a:r>
            <a:endParaRPr lang="en-US" sz="1500" dirty="0"/>
          </a:p>
        </p:txBody>
      </p:sp>
      <p:sp>
        <p:nvSpPr>
          <p:cNvPr id="9" name="Linie"/>
          <p:cNvSpPr/>
          <p:nvPr/>
        </p:nvSpPr>
        <p:spPr>
          <a:xfrm>
            <a:off x="411480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chemeClr val="accent1"/>
                </a:solidFill>
              </a:rPr>
              <a:t>WANN OFFEN?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084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Feiertage &amp; Dienstplan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74320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Geschlossen: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Karfreitag, Ostersonntag, Ostermontag.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Geöffnet: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Gründonnerstag und Karsamstag; Rosenmontag je nach Region.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Dienstplan: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Wer an Feiertagen arbeitet, bekommt einen Ersatzruhetag; Zuschläge regelt der Tarifvertrag.</a:t>
            </a:r>
            <a:endParaRPr lang="en-US" sz="1500" dirty="0"/>
          </a:p>
        </p:txBody>
      </p:sp>
      <p:sp>
        <p:nvSpPr>
          <p:cNvPr id="13" name="Linie"/>
          <p:cNvSpPr/>
          <p:nvPr/>
        </p:nvSpPr>
        <p:spPr>
          <a:xfrm>
            <a:off x="7818120" y="1828800"/>
            <a:ext cx="0" cy="420624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Karneval &amp; Ostern bei ALDI SÜD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6382512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chemeClr val="tx2"/>
                </a:solidFill>
              </a:rPr>
              <a:t>Quellen: ALDI SÜD Newsroom, Blog &amp; Karnevalsseite; t-online.de; generali.de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5880" y="548640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5"/>
                </a:solidFill>
              </a:rPr>
              <a:t>LEITFRAGE</a:t>
            </a:r>
            <a:endParaRPr lang="en-US" sz="1100" dirty="0"/>
          </a:p>
        </p:txBody>
      </p:sp>
      <p:sp>
        <p:nvSpPr>
          <p:cNvPr id="4" name="Abdunklung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solidFill>
            <a:schemeClr val="tx1">
              <a:alpha val="70000"/>
            </a:schemeClr>
          </a:solidFill>
          <a:ln/>
        </p:spPr>
      </p:sp>
      <p:sp>
        <p:nvSpPr>
          <p:cNvPr id="5" name="Rahmen"/>
          <p:cNvSpPr/>
          <p:nvPr/>
        </p:nvSpPr>
        <p:spPr>
          <a:xfrm>
            <a:off x="1097280" y="1417320"/>
            <a:ext cx="9966960" cy="4480560"/>
          </a:xfrm>
          <a:prstGeom prst="rect">
            <a:avLst/>
          </a:prstGeom>
          <a:ln w="1270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0899648" y="589788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Plus"/>
          <p:cNvSpPr/>
          <p:nvPr/>
        </p:nvSpPr>
        <p:spPr>
          <a:xfrm>
            <a:off x="11064240" y="573328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8" name="Text 0"/>
          <p:cNvSpPr/>
          <p:nvPr>
            <p:ph idx="100" type="body" hasCustomPrompt="1"/>
          </p:nvPr>
        </p:nvSpPr>
        <p:spPr>
          <a:xfrm>
            <a:off x="1463040" y="201168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1463040" y="4572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</a:rPr>
              <a:t>QUELLEN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18288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600" dirty="0"/>
          </a:p>
        </p:txBody>
      </p:sp>
      <p:sp>
        <p:nvSpPr>
          <p:cNvPr id="5" name="Linie"/>
          <p:cNvSpPr/>
          <p:nvPr/>
        </p:nvSpPr>
        <p:spPr>
          <a:xfrm>
            <a:off x="640080" y="26334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7432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600" dirty="0"/>
          </a:p>
        </p:txBody>
      </p:sp>
      <p:sp>
        <p:nvSpPr>
          <p:cNvPr id="8" name="Linie"/>
          <p:cNvSpPr/>
          <p:nvPr/>
        </p:nvSpPr>
        <p:spPr>
          <a:xfrm>
            <a:off x="640080" y="35478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657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36576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600" dirty="0"/>
          </a:p>
        </p:txBody>
      </p:sp>
      <p:sp>
        <p:nvSpPr>
          <p:cNvPr id="11" name="Linie"/>
          <p:cNvSpPr/>
          <p:nvPr/>
        </p:nvSpPr>
        <p:spPr>
          <a:xfrm>
            <a:off x="640080" y="44622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572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57200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600" dirty="0"/>
          </a:p>
          <a:p>
            <a:pPr indent="0" marL="0">
              <a:buNone/>
            </a:pPr>
            <a:r>
              <a:rPr lang="en-US" sz="1100" u="sng" dirty="0">
                <a:solidFill>
                  <a:schemeClr val="tx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600" dirty="0"/>
          </a:p>
        </p:txBody>
      </p:sp>
      <p:sp>
        <p:nvSpPr>
          <p:cNvPr id="14" name="Linie"/>
          <p:cNvSpPr/>
          <p:nvPr/>
        </p:nvSpPr>
        <p:spPr>
          <a:xfrm>
            <a:off x="640080" y="5376672"/>
            <a:ext cx="10881360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544068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1: Wikipedia, Artikel „Ostern“ – https://de.wikipedia.org/wiki/Ostern (abgerufen am 12.10.2026)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54480" y="5696712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Aufgabe 7 (ALDI SÜD): aldi-sued.de (Newsroom, Blog, Karnevalsseite) · t-online.de · web.de · generali.de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5952744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Bildquellen: Karneval- und Osterfotos – bitte ergänzen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640080" y="8229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347472"/>
            <a:ext cx="566928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hmen"/>
          <p:cNvSpPr/>
          <p:nvPr/>
        </p:nvSpPr>
        <p:spPr>
          <a:xfrm>
            <a:off x="1527048" y="2331720"/>
            <a:ext cx="9144000" cy="1463040"/>
          </a:xfrm>
          <a:prstGeom prst="rect">
            <a:avLst/>
          </a:prstGeom>
          <a:ln w="15875">
            <a:solidFill>
              <a:schemeClr val="bg1"/>
            </a:solidFill>
            <a:prstDash val="solid"/>
          </a:ln>
        </p:spPr>
      </p:sp>
      <p:sp>
        <p:nvSpPr>
          <p:cNvPr id="3" name="Plus"/>
          <p:cNvSpPr/>
          <p:nvPr/>
        </p:nvSpPr>
        <p:spPr>
          <a:xfrm>
            <a:off x="10506456" y="233172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" name="Plus"/>
          <p:cNvSpPr/>
          <p:nvPr/>
        </p:nvSpPr>
        <p:spPr>
          <a:xfrm>
            <a:off x="10671048" y="216712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5" name="Plus"/>
          <p:cNvSpPr/>
          <p:nvPr/>
        </p:nvSpPr>
        <p:spPr>
          <a:xfrm>
            <a:off x="1362456" y="3794760"/>
            <a:ext cx="329184" cy="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6" name="Plus"/>
          <p:cNvSpPr/>
          <p:nvPr/>
        </p:nvSpPr>
        <p:spPr>
          <a:xfrm>
            <a:off x="1527048" y="3630168"/>
            <a:ext cx="0" cy="329184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2441448" y="2514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spc="12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</a:t>
            </a: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152704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chemeClr val="bg1"/>
                </a:solidFill>
              </a:rPr>
              <a:t>FÜRS ZUHÖREN · FRAGEN?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 Editorial">
  <a:themeElements>
    <a:clrScheme name="Karneval und Ostern Editorial">
      <a:dk1>
        <a:srgbClr val="1C1C22"/>
      </a:dk1>
      <a:lt1>
        <a:srgbClr val="FFFFFF"/>
      </a:lt1>
      <a:dk2>
        <a:srgbClr val="6B6B76"/>
      </a:dk2>
      <a:lt2>
        <a:srgbClr val="F3F3F5"/>
      </a:lt2>
      <a:accent1>
        <a:srgbClr val="E5484D"/>
      </a:accent1>
      <a:accent2>
        <a:srgbClr val="D9D9DE"/>
      </a:accent2>
      <a:accent3>
        <a:srgbClr val="2A2A33"/>
      </a:accent3>
      <a:accent4>
        <a:srgbClr val="9A9AA5"/>
      </a:accent4>
      <a:accent5>
        <a:srgbClr val="F7B733"/>
      </a:accent5>
      <a:accent6>
        <a:srgbClr val="FFFFFF"/>
      </a:accent6>
      <a:hlink>
        <a:srgbClr val="E5484D"/>
      </a:hlink>
      <a:folHlink>
        <a:srgbClr val="6B6B76"/>
      </a:folHlink>
    </a:clrScheme>
    <a:fontScheme name="Karneval und Ostern Edito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christlichen Jahreskreis</dc:subject>
  <dc:creator>PptxGenJS</dc:creator>
  <cp:lastModifiedBy>PptxGenJS</cp:lastModifiedBy>
  <cp:revision>1</cp:revision>
  <dcterms:created xsi:type="dcterms:W3CDTF">2026-10-16T07:05:14Z</dcterms:created>
  <dcterms:modified xsi:type="dcterms:W3CDTF">2026-10-16T07:05:14Z</dcterms:modified>
</cp:coreProperties>
</file>