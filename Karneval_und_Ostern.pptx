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85d5276a-83e3-26a3-d24e-82e1811d8349}">
          <p14:sldIdLst>
            <p14:sldId id="256"/>
            <p14:sldId id="257"/>
          </p14:sldIdLst>
        </p14:section>
        <p14:section name="Karneval" id="{77b0338c-b69e-98e6-0191-718d887c80f0}">
          <p14:sldIdLst>
            <p14:sldId id="258"/>
            <p14:sldId id="259"/>
            <p14:sldId id="260"/>
          </p14:sldIdLst>
        </p14:section>
        <p14:section name="Fastenzeit" id="{5a0dba0c-2fad-a582-49f0-8bfe6c65b78d}">
          <p14:sldIdLst>
            <p14:sldId id="261"/>
            <p14:sldId id="262"/>
          </p14:sldIdLst>
        </p14:section>
        <p14:section name="Ostern" id="{ee6ca52c-a0cd-d80d-1e43-942147e38b5e}">
          <p14:sldIdLst>
            <p14:sldId id="263"/>
            <p14:sldId id="264"/>
            <p14:sldId id="265"/>
            <p14:sldId id="266"/>
          </p14:sldIdLst>
        </p14:section>
        <p14:section name="Andere Religionen" id="{b0be38ea-ba72-616d-8a5b-51327dce1af9}">
          <p14:sldIdLst>
            <p14:sldId id="267"/>
            <p14:sldId id="268"/>
            <p14:sldId id="269"/>
          </p14:sldIdLst>
        </p14:section>
        <p14:section name="Abschluss" id="{e82a094a-53d0-1fb7-5627-7c89c3842294}">
          <p14:sldIdLst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el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Abschnitt-Karneval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Abschnitt-Fastenzeit-image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Abschnitt-Ostern-image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Abschnitt-Religionen-image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Agenda-image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Text-und-Bild-image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Bild-und-Text-image-1.png"/><Relationship Id="rId2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Drei-Karten-image-1.png"/><Relationship Id="rId2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Zeitstrahl-4-image-1.png"/><Relationship Id="rId2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Zeitstrahl-5-image-1.png"/><Relationship Id="rId2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Zwei-Spalten-image-1.png"/><Relationship Id="rId2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Drei-Stationen-image-1.png"/><Relationship Id="rId2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Leitfrage-image-1.png"/><Relationship Id="rId2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Nur-Titel-image-1.png"/><Relationship Id="rId2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Abschluss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0350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 &amp; Ostern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60350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Untertitel · Name · Datum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 Karneval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</a:t>
            </a:r>
            <a:endParaRPr lang="en-US" sz="5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Kurze Einleitung zum Kapitel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 Fastenzei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Fastenzeit</a:t>
            </a:r>
            <a:endParaRPr lang="en-US" sz="5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Kurze Einleitung zum Kapitel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 Oster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Ostern</a:t>
            </a:r>
            <a:endParaRPr lang="en-US" sz="5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Kurze Einleitung zum Kapitel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 Religione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Andere Religionen</a:t>
            </a:r>
            <a:endParaRPr lang="en-US" sz="5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Kurze Einleitung zum Kapitel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600200" y="1783080"/>
            <a:ext cx="4572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1</a:t>
            </a: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600200" y="2880360"/>
            <a:ext cx="4572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2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1600200" y="3977640"/>
            <a:ext cx="4572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3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00200" y="5074920"/>
            <a:ext cx="4572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4</a:t>
            </a:r>
            <a:endParaRPr lang="en-US" sz="2000" dirty="0"/>
          </a:p>
        </p:txBody>
      </p:sp>
      <p:sp>
        <p:nvSpPr>
          <p:cNvPr id="7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und Bild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600200"/>
            <a:ext cx="566928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1000"/>
              </a:spcAft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Hier deinen Text einfügen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hasCustomPrompt="1"/>
          </p:nvPr>
        </p:nvSpPr>
        <p:spPr>
          <a:xfrm>
            <a:off x="6720840" y="1600200"/>
            <a:ext cx="489204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2"/>
                </a:solidFill>
              </a:rPr>
              <a:t>Bild einfügen</a:t>
            </a:r>
            <a:endParaRPr lang="en-US" dirty="0"/>
          </a:p>
        </p:txBody>
      </p:sp>
      <p:sp>
        <p:nvSpPr>
          <p:cNvPr id="5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ld und Tex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hasCustomPrompt="1"/>
          </p:nvPr>
        </p:nvSpPr>
        <p:spPr>
          <a:xfrm>
            <a:off x="548640" y="1600200"/>
            <a:ext cx="489204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2"/>
                </a:solidFill>
              </a:rPr>
              <a:t>Bild einfügen</a:t>
            </a: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943600" y="1600200"/>
            <a:ext cx="566928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1000"/>
              </a:spcAft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Hier deinen Text einfügen</a:t>
            </a:r>
            <a:endParaRPr lang="en-US" sz="1800" dirty="0"/>
          </a:p>
        </p:txBody>
      </p:sp>
      <p:sp>
        <p:nvSpPr>
          <p:cNvPr id="5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rei Karte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154680"/>
            <a:ext cx="2743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Überschrift 1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3749040"/>
            <a:ext cx="27432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Kurzer Text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709160" y="3154680"/>
            <a:ext cx="2743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Überschrift 2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709160" y="3749040"/>
            <a:ext cx="27432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Kurzer Text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8503920" y="3154680"/>
            <a:ext cx="2743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Überschrift 3</a:t>
            </a:r>
            <a:endParaRPr lang="en-US" sz="2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8503920" y="3749040"/>
            <a:ext cx="27432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Kurzer Text</a:t>
            </a:r>
            <a:endParaRPr lang="en-US" sz="1600" dirty="0"/>
          </a:p>
        </p:txBody>
      </p:sp>
      <p:sp>
        <p:nvSpPr>
          <p:cNvPr id="9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eitstrahl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931920"/>
            <a:ext cx="254660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 passiert hier?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3424428" y="3931920"/>
            <a:ext cx="254660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 passiert hier?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190488" y="3931920"/>
            <a:ext cx="254660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 passiert hier?</a:t>
            </a:r>
            <a:endParaRPr lang="en-US" sz="15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8956548" y="3931920"/>
            <a:ext cx="254660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 passiert hier?</a:t>
            </a:r>
            <a:endParaRPr lang="en-US" sz="1500" dirty="0"/>
          </a:p>
        </p:txBody>
      </p:sp>
      <p:sp>
        <p:nvSpPr>
          <p:cNvPr id="7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eitstrahl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931920"/>
            <a:ext cx="199339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871216" y="3931920"/>
            <a:ext cx="199339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84064" y="3931920"/>
            <a:ext cx="199339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7296912" y="3931920"/>
            <a:ext cx="199339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9509760" y="3931920"/>
            <a:ext cx="199339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8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Spalte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2697480"/>
            <a:ext cx="4709160" cy="2423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7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Text einfügen</a:t>
            </a:r>
            <a:endParaRPr lang="en-US" sz="17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537960" y="2697480"/>
            <a:ext cx="4709160" cy="2423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7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Text einfügen</a:t>
            </a:r>
            <a:endParaRPr lang="en-US" sz="17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53212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Fazit</a:t>
            </a:r>
            <a:endParaRPr lang="en-US" sz="1800" dirty="0"/>
          </a:p>
        </p:txBody>
      </p:sp>
      <p:sp>
        <p:nvSpPr>
          <p:cNvPr id="6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rei Statione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68680" y="3840480"/>
            <a:ext cx="26060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Text einfügen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777740" y="3840480"/>
            <a:ext cx="26060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Text einfügen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686800" y="3840480"/>
            <a:ext cx="26060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Text einfügen</a:t>
            </a:r>
            <a:endParaRPr lang="en-US" sz="1600" dirty="0"/>
          </a:p>
        </p:txBody>
      </p:sp>
      <p:sp>
        <p:nvSpPr>
          <p:cNvPr id="6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itfrag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280160" y="1920240"/>
            <a:ext cx="960120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i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3000" i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Frage oder Zitat einfügen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280160" y="4251960"/>
            <a:ext cx="9601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Deine Antwort / dein Fazit</a:t>
            </a: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luss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Danke fürs Zuhören!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103120" y="3566160"/>
            <a:ext cx="79552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Fragen?</a:t>
            </a: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0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0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5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erzbistum-koeln.de/presse_und_medien/magazin/Karneval-Ursprung-Bedeutung-und-Brauchtum-des-Karnevals/" TargetMode="External"/><Relationship Id="rId4" Type="http://schemas.openxmlformats.org/officeDocument/2006/relationships/hyperlink" Target="https://www.zdfheute.de/wissen/ostern-feiertage-karfreitag-karwoche-palmsonntag-100.html" TargetMode="External"/><Relationship Id="rId6" Type="http://schemas.openxmlformats.org/officeDocument/2006/relationships/hyperlink" Target="https://www.bpb.de/kurz-knapp/taegliche-dosis-politik/559978/ramadan/" TargetMode="External"/><Relationship Id="rId8" Type="http://schemas.openxmlformats.org/officeDocument/2006/relationships/hyperlink" Target="https://www.bpb.de/lernen/angebote/grafstat/projekt-integration/134726/m-06-06-gemeinsam-religioese-feste-feiern/" TargetMode="External"/><Relationship Id="rId1" Type="http://schemas.openxmlformats.org/officeDocument/2006/relationships/image" Target="../media/image-17-1.png"/><Relationship Id="rId3" Type="http://schemas.openxmlformats.org/officeDocument/2006/relationships/image" Target="../media/image-17-2.png"/><Relationship Id="rId5" Type="http://schemas.openxmlformats.org/officeDocument/2006/relationships/image" Target="../media/image-17-3.png"/><Relationship Id="rId7" Type="http://schemas.openxmlformats.org/officeDocument/2006/relationships/image" Target="../media/image-17-4.png"/><Relationship Id="rId9" Type="http://schemas.openxmlformats.org/officeDocument/2006/relationships/slideLayout" Target="../slideLayouts/slideLayout16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lasfläche"/>
          <p:cNvSpPr/>
          <p:nvPr/>
        </p:nvSpPr>
        <p:spPr>
          <a:xfrm>
            <a:off x="411480" y="1417320"/>
            <a:ext cx="6675120" cy="4023360"/>
          </a:xfrm>
          <a:prstGeom prst="roundRect">
            <a:avLst>
              <a:gd name="adj" fmla="val 6818"/>
            </a:avLst>
          </a:prstGeom>
          <a:solidFill>
            <a:schemeClr val="tx1">
              <a:alpha val="72000"/>
            </a:schemeClr>
          </a:solidFill>
          <a:ln w="15875">
            <a:solidFill>
              <a:schemeClr val="bg1">
                <a:alpha val="45000"/>
              </a:schemeClr>
            </a:solidFill>
            <a:prstDash val="solid"/>
          </a:ln>
          <a:effectLst>
            <a:outerShdw sx="100000" sy="100000" kx="0" ky="0" algn="bl" rotWithShape="0" blurRad="355600" dist="152400" dir="5400000">
              <a:srgbClr val="1A1033">
                <a:alpha val="44000"/>
              </a:srgbClr>
            </a:outerShdw>
          </a:effectLst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2880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 &amp; Ostern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406908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Feste im christlichen Jahreskreis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Nummer 1"/>
          <p:cNvSpPr/>
          <p:nvPr/>
        </p:nvSpPr>
        <p:spPr>
          <a:xfrm>
            <a:off x="548640" y="1783080"/>
            <a:ext cx="685800" cy="68580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3" name="Text 1"/>
          <p:cNvSpPr txBox="1"/>
          <p:nvPr/>
        </p:nvSpPr>
        <p:spPr>
          <a:xfrm>
            <a:off x="548640" y="1783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1600200" y="17830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Karneval &amp; Fastnacht</a:t>
            </a:r>
            <a:endParaRPr lang="en-US" sz="2000" dirty="0"/>
          </a:p>
        </p:txBody>
      </p:sp>
      <p:sp>
        <p:nvSpPr>
          <p:cNvPr id="5" name="3D-Kugel Nummer 2"/>
          <p:cNvSpPr/>
          <p:nvPr/>
        </p:nvSpPr>
        <p:spPr>
          <a:xfrm>
            <a:off x="548640" y="2880360"/>
            <a:ext cx="685800" cy="68580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6" name="Text 4"/>
          <p:cNvSpPr txBox="1"/>
          <p:nvPr/>
        </p:nvSpPr>
        <p:spPr>
          <a:xfrm>
            <a:off x="54864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2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1600200" y="28803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Von Aschermittwoch bis Ostersonntag</a:t>
            </a:r>
            <a:endParaRPr lang="en-US" sz="2000" dirty="0"/>
          </a:p>
        </p:txBody>
      </p:sp>
      <p:sp>
        <p:nvSpPr>
          <p:cNvPr id="8" name="3D-Kugel Nummer 3"/>
          <p:cNvSpPr/>
          <p:nvPr/>
        </p:nvSpPr>
        <p:spPr>
          <a:xfrm>
            <a:off x="548640" y="3977640"/>
            <a:ext cx="685800" cy="685800"/>
          </a:xfrm>
          <a:prstGeom prst="ellipse">
            <a:avLst/>
          </a:prstGeom>
          <a:solidFill>
            <a:schemeClr val="accent3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9" name="Text 7"/>
          <p:cNvSpPr txBox="1"/>
          <p:nvPr/>
        </p:nvSpPr>
        <p:spPr>
          <a:xfrm>
            <a:off x="548640" y="39776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200" dirty="0"/>
          </a:p>
        </p:txBody>
      </p:sp>
      <p:sp>
        <p:nvSpPr>
          <p:cNvPr id="10" name="Text 0"/>
          <p:cNvSpPr/>
          <p:nvPr>
            <p:ph idx="103" type="body" hasCustomPrompt="1"/>
          </p:nvPr>
        </p:nvSpPr>
        <p:spPr>
          <a:xfrm>
            <a:off x="1600200" y="39776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Ostern, Osterei &amp; Osterhase</a:t>
            </a:r>
            <a:endParaRPr lang="en-US" sz="2000" dirty="0"/>
          </a:p>
        </p:txBody>
      </p:sp>
      <p:sp>
        <p:nvSpPr>
          <p:cNvPr id="11" name="3D-Kugel Nummer 4"/>
          <p:cNvSpPr/>
          <p:nvPr/>
        </p:nvSpPr>
        <p:spPr>
          <a:xfrm>
            <a:off x="548640" y="5074920"/>
            <a:ext cx="685800" cy="6858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12" name="Text 10"/>
          <p:cNvSpPr txBox="1"/>
          <p:nvPr/>
        </p:nvSpPr>
        <p:spPr>
          <a:xfrm>
            <a:off x="548640" y="5074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2200" dirty="0"/>
          </a:p>
        </p:txBody>
      </p:sp>
      <p:sp>
        <p:nvSpPr>
          <p:cNvPr id="13" name="Text 0"/>
          <p:cNvSpPr/>
          <p:nvPr>
            <p:ph idx="104" type="body" hasCustomPrompt="1"/>
          </p:nvPr>
        </p:nvSpPr>
        <p:spPr>
          <a:xfrm>
            <a:off x="1600200" y="50749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Andere Religionen &amp; Arbeitsalltag</a:t>
            </a:r>
            <a:endParaRPr lang="en-US" sz="2000" dirty="0"/>
          </a:p>
        </p:txBody>
      </p:sp>
      <p:sp>
        <p:nvSpPr>
          <p:cNvPr id="14" name="3D-Karte Bildfläche"/>
          <p:cNvSpPr/>
          <p:nvPr/>
        </p:nvSpPr>
        <p:spPr>
          <a:xfrm>
            <a:off x="6583680" y="1463040"/>
            <a:ext cx="5029200" cy="4572000"/>
          </a:xfrm>
          <a:prstGeom prst="roundRect">
            <a:avLst>
              <a:gd name="adj" fmla="val 4400"/>
            </a:avLst>
          </a:prstGeom>
          <a:solidFill>
            <a:schemeClr val="tx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15" name="3D-Kugel 1"/>
          <p:cNvSpPr/>
          <p:nvPr/>
        </p:nvSpPr>
        <p:spPr>
          <a:xfrm>
            <a:off x="8018055" y="2712346"/>
            <a:ext cx="78485" cy="7848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39243" h="23546" prst="circle"/>
          </a:sp3d>
        </p:spPr>
      </p:sp>
      <p:sp>
        <p:nvSpPr>
          <p:cNvPr id="16" name="3D-Kugel 2"/>
          <p:cNvSpPr/>
          <p:nvPr/>
        </p:nvSpPr>
        <p:spPr>
          <a:xfrm>
            <a:off x="9882912" y="3266011"/>
            <a:ext cx="101059" cy="10105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50530" h="30318" prst="circle"/>
          </a:sp3d>
        </p:spPr>
      </p:sp>
      <p:sp>
        <p:nvSpPr>
          <p:cNvPr id="17" name="3D-Kugel 3"/>
          <p:cNvSpPr/>
          <p:nvPr/>
        </p:nvSpPr>
        <p:spPr>
          <a:xfrm>
            <a:off x="10989593" y="5021337"/>
            <a:ext cx="126426" cy="126426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63213" h="37928" prst="circle"/>
          </a:sp3d>
        </p:spPr>
      </p:sp>
      <p:sp>
        <p:nvSpPr>
          <p:cNvPr id="18" name="3D-Kugel 4"/>
          <p:cNvSpPr/>
          <p:nvPr/>
        </p:nvSpPr>
        <p:spPr>
          <a:xfrm>
            <a:off x="8854417" y="5705251"/>
            <a:ext cx="90580" cy="90580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45290" h="27174" prst="circle"/>
          </a:sp3d>
        </p:spPr>
      </p:sp>
      <p:sp>
        <p:nvSpPr>
          <p:cNvPr id="19" name="3D-Kugel 5"/>
          <p:cNvSpPr/>
          <p:nvPr/>
        </p:nvSpPr>
        <p:spPr>
          <a:xfrm>
            <a:off x="9565227" y="2867314"/>
            <a:ext cx="148967" cy="148967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74484" h="44690" prst="circle"/>
          </a:sp3d>
        </p:spPr>
      </p:sp>
      <p:sp>
        <p:nvSpPr>
          <p:cNvPr id="20" name="3D-Kugel 6"/>
          <p:cNvSpPr/>
          <p:nvPr/>
        </p:nvSpPr>
        <p:spPr>
          <a:xfrm>
            <a:off x="10672030" y="2284811"/>
            <a:ext cx="127853" cy="12785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3927" h="38356" prst="circle"/>
          </a:sp3d>
        </p:spPr>
      </p:sp>
      <p:sp>
        <p:nvSpPr>
          <p:cNvPr id="21" name="3D-Kugel 7"/>
          <p:cNvSpPr/>
          <p:nvPr/>
        </p:nvSpPr>
        <p:spPr>
          <a:xfrm>
            <a:off x="9544928" y="5509777"/>
            <a:ext cx="182684" cy="182684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91342" h="54805" prst="circle"/>
          </a:sp3d>
        </p:spPr>
      </p:sp>
      <p:sp>
        <p:nvSpPr>
          <p:cNvPr id="22" name="3D-Kugel 8"/>
          <p:cNvSpPr/>
          <p:nvPr/>
        </p:nvSpPr>
        <p:spPr>
          <a:xfrm>
            <a:off x="8110158" y="2406448"/>
            <a:ext cx="139726" cy="139726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69863" h="41918" prst="circle"/>
          </a:sp3d>
        </p:spPr>
      </p:sp>
      <p:sp>
        <p:nvSpPr>
          <p:cNvPr id="23" name="3D-Kugel 9"/>
          <p:cNvSpPr/>
          <p:nvPr/>
        </p:nvSpPr>
        <p:spPr>
          <a:xfrm>
            <a:off x="8081272" y="2451527"/>
            <a:ext cx="154425" cy="15442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77213" h="46328" prst="circle"/>
          </a:sp3d>
        </p:spPr>
      </p:sp>
      <p:sp>
        <p:nvSpPr>
          <p:cNvPr id="24" name="3D-Kugel 10"/>
          <p:cNvSpPr/>
          <p:nvPr/>
        </p:nvSpPr>
        <p:spPr>
          <a:xfrm>
            <a:off x="6964871" y="3366626"/>
            <a:ext cx="162775" cy="162775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1388" h="48833" prst="circle"/>
          </a:sp3d>
        </p:spPr>
      </p:sp>
      <p:sp>
        <p:nvSpPr>
          <p:cNvPr id="25" name="3D-Kugel 11"/>
          <p:cNvSpPr/>
          <p:nvPr/>
        </p:nvSpPr>
        <p:spPr>
          <a:xfrm>
            <a:off x="10935988" y="2865187"/>
            <a:ext cx="100767" cy="100767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50384" h="30230" prst="circle"/>
          </a:sp3d>
        </p:spPr>
      </p:sp>
      <p:sp>
        <p:nvSpPr>
          <p:cNvPr id="26" name="3D-Kugel 12"/>
          <p:cNvSpPr/>
          <p:nvPr/>
        </p:nvSpPr>
        <p:spPr>
          <a:xfrm>
            <a:off x="8681066" y="2546235"/>
            <a:ext cx="123848" cy="123848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61924" h="37154" prst="circle"/>
          </a:sp3d>
        </p:spPr>
      </p:sp>
      <p:sp>
        <p:nvSpPr>
          <p:cNvPr id="27" name="3D-Kugel 13"/>
          <p:cNvSpPr/>
          <p:nvPr/>
        </p:nvSpPr>
        <p:spPr>
          <a:xfrm>
            <a:off x="10754360" y="4082655"/>
            <a:ext cx="168012" cy="168012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84006" h="50404" prst="circle"/>
          </a:sp3d>
        </p:spPr>
      </p:sp>
      <p:sp>
        <p:nvSpPr>
          <p:cNvPr id="28" name="3D-Kugel 14"/>
          <p:cNvSpPr/>
          <p:nvPr/>
        </p:nvSpPr>
        <p:spPr>
          <a:xfrm>
            <a:off x="10319505" y="5179769"/>
            <a:ext cx="169249" cy="16924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4625" h="50775" prst="circle"/>
          </a:sp3d>
        </p:spPr>
      </p:sp>
      <p:sp>
        <p:nvSpPr>
          <p:cNvPr id="29" name="3D-Kugel 15"/>
          <p:cNvSpPr/>
          <p:nvPr/>
        </p:nvSpPr>
        <p:spPr>
          <a:xfrm>
            <a:off x="9155086" y="3526656"/>
            <a:ext cx="173281" cy="173281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6641" h="51984" prst="circle"/>
          </a:sp3d>
        </p:spPr>
      </p:sp>
      <p:sp>
        <p:nvSpPr>
          <p:cNvPr id="30" name="3D-Kugel 16"/>
          <p:cNvSpPr/>
          <p:nvPr/>
        </p:nvSpPr>
        <p:spPr>
          <a:xfrm>
            <a:off x="9089997" y="4758494"/>
            <a:ext cx="116098" cy="116098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58049" h="34829" prst="circle"/>
          </a:sp3d>
        </p:spPr>
      </p:sp>
      <p:sp>
        <p:nvSpPr>
          <p:cNvPr id="31" name="3D-Ei 17"/>
          <p:cNvSpPr/>
          <p:nvPr/>
        </p:nvSpPr>
        <p:spPr>
          <a:xfrm rot="-600000">
            <a:off x="7315200" y="2011680"/>
            <a:ext cx="1463040" cy="1901952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731520" h="438912" prst="circle"/>
          </a:sp3d>
        </p:spPr>
      </p:sp>
      <p:sp>
        <p:nvSpPr>
          <p:cNvPr id="32" name="Glanzlicht 18"/>
          <p:cNvSpPr/>
          <p:nvPr/>
        </p:nvSpPr>
        <p:spPr>
          <a:xfrm rot="-2400000">
            <a:off x="7607808" y="2201875"/>
            <a:ext cx="468173" cy="380390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33" name="3D-Ei 19"/>
          <p:cNvSpPr/>
          <p:nvPr/>
        </p:nvSpPr>
        <p:spPr>
          <a:xfrm rot="720000">
            <a:off x="9601200" y="2377440"/>
            <a:ext cx="1280160" cy="1664208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640080" h="384048" prst="circle"/>
          </a:sp3d>
        </p:spPr>
      </p:sp>
      <p:sp>
        <p:nvSpPr>
          <p:cNvPr id="34" name="Glanzlicht 20"/>
          <p:cNvSpPr/>
          <p:nvPr/>
        </p:nvSpPr>
        <p:spPr>
          <a:xfrm rot="-1080000">
            <a:off x="9857232" y="2543861"/>
            <a:ext cx="409651" cy="332842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35" name="3D-Kugel Symbol 21"/>
          <p:cNvSpPr/>
          <p:nvPr/>
        </p:nvSpPr>
        <p:spPr>
          <a:xfrm>
            <a:off x="8549640" y="4114800"/>
            <a:ext cx="1188720" cy="118872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94360" h="356616" prst="circle"/>
          </a:sp3d>
        </p:spPr>
      </p:sp>
      <p:pic>
        <p:nvPicPr>
          <p:cNvPr id="36" name="Symbol 2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4933" y="4400093"/>
            <a:ext cx="618134" cy="618134"/>
          </a:xfrm>
          <a:prstGeom prst="rect">
            <a:avLst/>
          </a:prstGeom>
        </p:spPr>
      </p:pic>
      <p:sp>
        <p:nvSpPr>
          <p:cNvPr id="37" name="3D-Kugel Symbol 22"/>
          <p:cNvSpPr/>
          <p:nvPr/>
        </p:nvSpPr>
        <p:spPr>
          <a:xfrm>
            <a:off x="10012680" y="4526280"/>
            <a:ext cx="822960" cy="82296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11480" h="246888" prst="circle"/>
          </a:sp3d>
        </p:spPr>
      </p:sp>
      <p:pic>
        <p:nvPicPr>
          <p:cNvPr id="38" name="Symbol 2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0190" y="4723790"/>
            <a:ext cx="427939" cy="427939"/>
          </a:xfrm>
          <a:prstGeom prst="rect">
            <a:avLst/>
          </a:prstGeom>
        </p:spPr>
      </p:pic>
      <p:sp>
        <p:nvSpPr>
          <p:cNvPr id="39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280160"/>
            <a:ext cx="182880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1A1033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4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</a:t>
            </a:r>
            <a:endParaRPr lang="en-US" sz="5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Ausgelassen feiern – bevor die Fastenzeit beginnt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Bildschatten"/>
          <p:cNvSpPr/>
          <p:nvPr/>
        </p:nvSpPr>
        <p:spPr>
          <a:xfrm>
            <a:off x="6720840" y="1600200"/>
            <a:ext cx="4892040" cy="4480560"/>
          </a:xfrm>
          <a:prstGeom prst="roundRect">
            <a:avLst>
              <a:gd name="adj" fmla="val 4490"/>
            </a:avLst>
          </a:prstGeom>
          <a:solidFill>
            <a:schemeClr val="bg1"/>
          </a:solidFill>
          <a:ln/>
          <a:effectLst>
            <a:outerShdw sx="100000" sy="100000" kx="0" ky="0" algn="bl" rotWithShape="0" blurRad="284480" dist="121920" dir="5400000">
              <a:srgbClr val="1A1033">
                <a:alpha val="352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pic>
        <p:nvPicPr>
          <p:cNvPr id="3" name="Illustration foto-karneval" descr="art/foto-karne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600200"/>
            <a:ext cx="4892040" cy="4480560"/>
          </a:xfrm>
          <a:prstGeom prst="rect">
            <a:avLst/>
          </a:prstGeom>
        </p:spPr>
      </p:pic>
      <p:sp>
        <p:nvSpPr>
          <p:cNvPr id="4" name="3D-Kugel 23"/>
          <p:cNvSpPr/>
          <p:nvPr/>
        </p:nvSpPr>
        <p:spPr>
          <a:xfrm>
            <a:off x="11906583" y="2371946"/>
            <a:ext cx="132342" cy="132342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66171" h="39703" prst="circle"/>
          </a:sp3d>
        </p:spPr>
      </p:sp>
      <p:sp>
        <p:nvSpPr>
          <p:cNvPr id="5" name="3D-Kugel 24"/>
          <p:cNvSpPr/>
          <p:nvPr/>
        </p:nvSpPr>
        <p:spPr>
          <a:xfrm>
            <a:off x="11754683" y="1491854"/>
            <a:ext cx="128434" cy="12843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4217" h="38530" prst="circle"/>
          </a:sp3d>
        </p:spPr>
      </p:sp>
      <p:sp>
        <p:nvSpPr>
          <p:cNvPr id="6" name="3D-Kugel 25"/>
          <p:cNvSpPr/>
          <p:nvPr/>
        </p:nvSpPr>
        <p:spPr>
          <a:xfrm>
            <a:off x="11872445" y="5513262"/>
            <a:ext cx="162415" cy="162415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1208" h="48725" prst="circle"/>
          </a:sp3d>
        </p:spPr>
      </p:sp>
      <p:sp>
        <p:nvSpPr>
          <p:cNvPr id="7" name="3D-Kugel 26"/>
          <p:cNvSpPr/>
          <p:nvPr/>
        </p:nvSpPr>
        <p:spPr>
          <a:xfrm>
            <a:off x="11784632" y="2093340"/>
            <a:ext cx="180944" cy="180944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90472" h="54283" prst="circle"/>
          </a:sp3d>
        </p:spPr>
      </p:sp>
      <p:sp>
        <p:nvSpPr>
          <p:cNvPr id="8" name="3D-Kugel 27"/>
          <p:cNvSpPr/>
          <p:nvPr/>
        </p:nvSpPr>
        <p:spPr>
          <a:xfrm>
            <a:off x="11943007" y="2789449"/>
            <a:ext cx="130681" cy="130681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65341" h="39204" prst="circle"/>
          </a:sp3d>
        </p:spPr>
      </p:sp>
      <p:sp>
        <p:nvSpPr>
          <p:cNvPr id="9" name="3D-Kugel 28"/>
          <p:cNvSpPr/>
          <p:nvPr/>
        </p:nvSpPr>
        <p:spPr>
          <a:xfrm>
            <a:off x="11801617" y="4794621"/>
            <a:ext cx="141167" cy="141167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70584" h="42350" prst="circle"/>
          </a:sp3d>
        </p:spPr>
      </p:sp>
      <p:sp>
        <p:nvSpPr>
          <p:cNvPr id="10" name="3D-Kugel 29"/>
          <p:cNvSpPr/>
          <p:nvPr/>
        </p:nvSpPr>
        <p:spPr>
          <a:xfrm>
            <a:off x="11834898" y="5311404"/>
            <a:ext cx="159061" cy="159061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79531" h="47718" prst="circle"/>
          </a:sp3d>
        </p:spPr>
      </p:sp>
      <p:sp>
        <p:nvSpPr>
          <p:cNvPr id="11" name="3D-Kugel 30"/>
          <p:cNvSpPr/>
          <p:nvPr/>
        </p:nvSpPr>
        <p:spPr>
          <a:xfrm>
            <a:off x="11879799" y="1583399"/>
            <a:ext cx="131024" cy="131024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65512" h="39307" prst="circle"/>
          </a:sp3d>
        </p:spPr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Woher kommen die Namen?</a:t>
            </a:r>
            <a:endParaRPr lang="en-US" sz="3600" dirty="0"/>
          </a:p>
        </p:txBody>
      </p:sp>
      <p:sp>
        <p:nvSpPr>
          <p:cNvPr id="13" name="Text 0"/>
          <p:cNvSpPr/>
          <p:nvPr>
            <p:ph idx="101" type="body" hasCustomPrompt="1"/>
          </p:nvPr>
        </p:nvSpPr>
        <p:spPr>
          <a:xfrm>
            <a:off x="548640" y="1600200"/>
            <a:ext cx="56692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Fastnacht: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„die Nacht vor dem Fasten“ – eigentlich der Dienstag vor Aschermittwoch.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Karneval: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meist erklärt mit dem Lateinischen „carne vale“ = „Fleisch, lebe wohl!“, denn in der Fastenzeit aß man kein Fleisch.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Aber: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ganz sicher ist das nicht. Eine andere Idee ist der „carrus navalis“, ein Schiffswagen bei Frühlingsumzügen in der Antike.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Seit wann?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Das Wort „Karneval“ gibt es seit dem 17. Jahrhundert.</a:t>
            </a:r>
            <a:endParaRPr lang="en-US" sz="1800" dirty="0"/>
          </a:p>
        </p:txBody>
      </p:sp>
      <p:sp>
        <p:nvSpPr>
          <p:cNvPr id="14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Quelle: Erzbistum Köln</a:t>
            </a:r>
            <a:endParaRPr lang="en-US" sz="1000" dirty="0"/>
          </a:p>
        </p:txBody>
      </p:sp>
      <p:sp>
        <p:nvSpPr>
          <p:cNvPr id="15" name="Text 0"/>
          <p:cNvSpPr/>
          <p:nvPr>
            <p:ph idx="102" hasCustomPrompt="1"/>
          </p:nvPr>
        </p:nvSpPr>
        <p:spPr>
          <a:xfrm>
            <a:off x="6720840" y="1600200"/>
            <a:ext cx="48920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1"/>
          <p:cNvSpPr/>
          <p:nvPr/>
        </p:nvSpPr>
        <p:spPr>
          <a:xfrm>
            <a:off x="54864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Kugel Symbol 31"/>
          <p:cNvSpPr/>
          <p:nvPr/>
        </p:nvSpPr>
        <p:spPr>
          <a:xfrm>
            <a:off x="914400" y="1965960"/>
            <a:ext cx="1005840" cy="100584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4" name="Symbol 3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5802" y="2207362"/>
            <a:ext cx="523037" cy="523037"/>
          </a:xfrm>
          <a:prstGeom prst="rect">
            <a:avLst/>
          </a:prstGeom>
        </p:spPr>
      </p:pic>
      <p:sp>
        <p:nvSpPr>
          <p:cNvPr id="5" name="3D-Karte 2"/>
          <p:cNvSpPr/>
          <p:nvPr/>
        </p:nvSpPr>
        <p:spPr>
          <a:xfrm>
            <a:off x="434340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6" name="3D-Kugel Symbol 32"/>
          <p:cNvSpPr/>
          <p:nvPr/>
        </p:nvSpPr>
        <p:spPr>
          <a:xfrm>
            <a:off x="4709160" y="1965960"/>
            <a:ext cx="1005840" cy="100584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7" name="Symbol 3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562" y="2207362"/>
            <a:ext cx="523037" cy="523037"/>
          </a:xfrm>
          <a:prstGeom prst="rect">
            <a:avLst/>
          </a:prstGeom>
        </p:spPr>
      </p:pic>
      <p:sp>
        <p:nvSpPr>
          <p:cNvPr id="8" name="3D-Karte 3"/>
          <p:cNvSpPr/>
          <p:nvPr/>
        </p:nvSpPr>
        <p:spPr>
          <a:xfrm>
            <a:off x="813816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9" name="3D-Kugel Symbol 33"/>
          <p:cNvSpPr/>
          <p:nvPr/>
        </p:nvSpPr>
        <p:spPr>
          <a:xfrm>
            <a:off x="8503920" y="1965960"/>
            <a:ext cx="1005840" cy="100584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10" name="Symbol 3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5322" y="2207362"/>
            <a:ext cx="523037" cy="523037"/>
          </a:xfrm>
          <a:prstGeom prst="rect">
            <a:avLst/>
          </a:prstGeom>
        </p:spPr>
      </p:pic>
      <p:sp>
        <p:nvSpPr>
          <p:cNvPr id="11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 und Fastenzeit</a:t>
            </a:r>
            <a:endParaRPr lang="en-US" sz="36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91440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Noch mal feiern</a:t>
            </a:r>
            <a:endParaRPr lang="en-US" sz="2200" dirty="0"/>
          </a:p>
        </p:txBody>
      </p:sp>
      <p:sp>
        <p:nvSpPr>
          <p:cNvPr id="13" name="Text 0"/>
          <p:cNvSpPr/>
          <p:nvPr>
            <p:ph idx="102" type="body" hasCustomPrompt="1"/>
          </p:nvPr>
        </p:nvSpPr>
        <p:spPr>
          <a:xfrm>
            <a:off x="91440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Karneval ist die Zeit direkt vor der Fastenzeit. Bevor der Verzicht beginnt, wird noch einmal gegessen, getrunken, getanzt und gefeiert.</a:t>
            </a:r>
            <a:endParaRPr lang="en-US" sz="1600" dirty="0"/>
          </a:p>
        </p:txBody>
      </p:sp>
      <p:sp>
        <p:nvSpPr>
          <p:cNvPr id="14" name="Text 0"/>
          <p:cNvSpPr/>
          <p:nvPr>
            <p:ph idx="103" type="body" hasCustomPrompt="1"/>
          </p:nvPr>
        </p:nvSpPr>
        <p:spPr>
          <a:xfrm>
            <a:off x="470916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Rollen tauschen</a:t>
            </a:r>
            <a:endParaRPr lang="en-US" sz="2200" dirty="0"/>
          </a:p>
        </p:txBody>
      </p:sp>
      <p:sp>
        <p:nvSpPr>
          <p:cNvPr id="15" name="Text 0"/>
          <p:cNvSpPr/>
          <p:nvPr>
            <p:ph idx="104" type="body" hasCustomPrompt="1"/>
          </p:nvPr>
        </p:nvSpPr>
        <p:spPr>
          <a:xfrm>
            <a:off x="470916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Für kurze Zeit gelten die üblichen Regeln nicht. Im Kostüm schlüpft man in eine andere Rolle – das erinnert an die Gleichheit aller Menschen.</a:t>
            </a:r>
            <a:endParaRPr lang="en-US" sz="1600" dirty="0"/>
          </a:p>
        </p:txBody>
      </p:sp>
      <p:sp>
        <p:nvSpPr>
          <p:cNvPr id="16" name="Text 0"/>
          <p:cNvSpPr/>
          <p:nvPr>
            <p:ph idx="105" type="body" hasCustomPrompt="1"/>
          </p:nvPr>
        </p:nvSpPr>
        <p:spPr>
          <a:xfrm>
            <a:off x="850392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Aschermittwoch</a:t>
            </a:r>
            <a:endParaRPr lang="en-US" sz="2200" dirty="0"/>
          </a:p>
        </p:txBody>
      </p:sp>
      <p:sp>
        <p:nvSpPr>
          <p:cNvPr id="17" name="Text 0"/>
          <p:cNvSpPr/>
          <p:nvPr>
            <p:ph idx="106" type="body" hasCustomPrompt="1"/>
          </p:nvPr>
        </p:nvSpPr>
        <p:spPr>
          <a:xfrm>
            <a:off x="850392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Mit dem Aschermittwoch ist der Karneval vorbei. Jetzt beginnt die 40-tägige Fastenzeit bis Ostern.</a:t>
            </a:r>
            <a:endParaRPr lang="en-US" sz="1600" dirty="0"/>
          </a:p>
        </p:txBody>
      </p:sp>
      <p:sp>
        <p:nvSpPr>
          <p:cNvPr id="18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Quelle: Erzbistum Köln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34"/>
          <p:cNvSpPr/>
          <p:nvPr/>
        </p:nvSpPr>
        <p:spPr>
          <a:xfrm>
            <a:off x="9952143" y="5645716"/>
            <a:ext cx="264907" cy="264907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132454" h="79472" prst="circle"/>
          </a:sp3d>
        </p:spPr>
      </p:sp>
      <p:sp>
        <p:nvSpPr>
          <p:cNvPr id="3" name="3D-Kugel 35"/>
          <p:cNvSpPr/>
          <p:nvPr/>
        </p:nvSpPr>
        <p:spPr>
          <a:xfrm>
            <a:off x="8162308" y="5671121"/>
            <a:ext cx="218425" cy="218425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109213" h="65528" prst="circle"/>
          </a:sp3d>
        </p:spPr>
      </p:sp>
      <p:sp>
        <p:nvSpPr>
          <p:cNvPr id="4" name="3D-Kugel 36"/>
          <p:cNvSpPr/>
          <p:nvPr/>
        </p:nvSpPr>
        <p:spPr>
          <a:xfrm>
            <a:off x="7890732" y="2792178"/>
            <a:ext cx="151581" cy="151581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75791" h="45474" prst="circle"/>
          </a:sp3d>
        </p:spPr>
      </p:sp>
      <p:sp>
        <p:nvSpPr>
          <p:cNvPr id="5" name="3D-Kugel 37"/>
          <p:cNvSpPr/>
          <p:nvPr/>
        </p:nvSpPr>
        <p:spPr>
          <a:xfrm>
            <a:off x="10858638" y="5645076"/>
            <a:ext cx="163435" cy="163435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81718" h="49031" prst="circle"/>
          </a:sp3d>
        </p:spPr>
      </p:sp>
      <p:sp>
        <p:nvSpPr>
          <p:cNvPr id="6" name="3D-Kugel 38"/>
          <p:cNvSpPr/>
          <p:nvPr/>
        </p:nvSpPr>
        <p:spPr>
          <a:xfrm>
            <a:off x="10709022" y="4595610"/>
            <a:ext cx="115302" cy="115302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57651" h="34591" prst="circle"/>
          </a:sp3d>
        </p:spPr>
      </p:sp>
      <p:sp>
        <p:nvSpPr>
          <p:cNvPr id="7" name="3D-Kugel 39"/>
          <p:cNvSpPr/>
          <p:nvPr/>
        </p:nvSpPr>
        <p:spPr>
          <a:xfrm>
            <a:off x="9037819" y="2115977"/>
            <a:ext cx="106243" cy="106243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3122" h="31873" prst="circle"/>
          </a:sp3d>
        </p:spPr>
      </p:sp>
      <p:sp>
        <p:nvSpPr>
          <p:cNvPr id="8" name="3D-Kugel 40"/>
          <p:cNvSpPr/>
          <p:nvPr/>
        </p:nvSpPr>
        <p:spPr>
          <a:xfrm>
            <a:off x="11552354" y="810433"/>
            <a:ext cx="235318" cy="235318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117659" h="70595" prst="circle"/>
          </a:sp3d>
        </p:spPr>
      </p:sp>
      <p:sp>
        <p:nvSpPr>
          <p:cNvPr id="9" name="3D-Kugel 41"/>
          <p:cNvSpPr/>
          <p:nvPr/>
        </p:nvSpPr>
        <p:spPr>
          <a:xfrm>
            <a:off x="8043429" y="3294412"/>
            <a:ext cx="126098" cy="126098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63049" h="37829" prst="circle"/>
          </a:sp3d>
        </p:spPr>
      </p:sp>
      <p:sp>
        <p:nvSpPr>
          <p:cNvPr id="10" name="3D-Kugel 42"/>
          <p:cNvSpPr/>
          <p:nvPr/>
        </p:nvSpPr>
        <p:spPr>
          <a:xfrm>
            <a:off x="8046327" y="5935985"/>
            <a:ext cx="115388" cy="11538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7694" h="34616" prst="circle"/>
          </a:sp3d>
        </p:spPr>
      </p:sp>
      <p:sp>
        <p:nvSpPr>
          <p:cNvPr id="11" name="3D-Kugel 43"/>
          <p:cNvSpPr/>
          <p:nvPr/>
        </p:nvSpPr>
        <p:spPr>
          <a:xfrm>
            <a:off x="9215346" y="4970802"/>
            <a:ext cx="302247" cy="302247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151124" h="90674" prst="circle"/>
          </a:sp3d>
        </p:spPr>
      </p:sp>
      <p:sp>
        <p:nvSpPr>
          <p:cNvPr id="12" name="3D-Kugel 44"/>
          <p:cNvSpPr/>
          <p:nvPr/>
        </p:nvSpPr>
        <p:spPr>
          <a:xfrm>
            <a:off x="9304240" y="3324126"/>
            <a:ext cx="310248" cy="310248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155124" h="93074" prst="circle"/>
          </a:sp3d>
        </p:spPr>
      </p:sp>
      <p:sp>
        <p:nvSpPr>
          <p:cNvPr id="13" name="3D-Kugel 45"/>
          <p:cNvSpPr/>
          <p:nvPr/>
        </p:nvSpPr>
        <p:spPr>
          <a:xfrm>
            <a:off x="9969786" y="3372883"/>
            <a:ext cx="238451" cy="238451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19226" h="71535" prst="circle"/>
          </a:sp3d>
        </p:spPr>
      </p:sp>
      <p:sp>
        <p:nvSpPr>
          <p:cNvPr id="14" name="3D-Kugel 46"/>
          <p:cNvSpPr/>
          <p:nvPr/>
        </p:nvSpPr>
        <p:spPr>
          <a:xfrm>
            <a:off x="8848022" y="1526833"/>
            <a:ext cx="185916" cy="185916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92958" h="55775" prst="circle"/>
          </a:sp3d>
        </p:spPr>
      </p:sp>
      <p:sp>
        <p:nvSpPr>
          <p:cNvPr id="15" name="3D-Kugel 47"/>
          <p:cNvSpPr/>
          <p:nvPr/>
        </p:nvSpPr>
        <p:spPr>
          <a:xfrm>
            <a:off x="11531244" y="319685"/>
            <a:ext cx="251702" cy="251702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125851" h="75511" prst="circle"/>
          </a:sp3d>
        </p:spPr>
      </p:sp>
      <p:sp>
        <p:nvSpPr>
          <p:cNvPr id="16" name="3D-Kugel 48"/>
          <p:cNvSpPr/>
          <p:nvPr/>
        </p:nvSpPr>
        <p:spPr>
          <a:xfrm>
            <a:off x="7851230" y="2293810"/>
            <a:ext cx="297126" cy="297126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48563" h="89138" prst="circle"/>
          </a:sp3d>
        </p:spPr>
      </p:sp>
      <p:sp>
        <p:nvSpPr>
          <p:cNvPr id="17" name="3D-Kugel 49"/>
          <p:cNvSpPr/>
          <p:nvPr/>
        </p:nvSpPr>
        <p:spPr>
          <a:xfrm>
            <a:off x="11368675" y="3989250"/>
            <a:ext cx="183504" cy="183504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91752" h="55051" prst="circle"/>
          </a:sp3d>
        </p:spPr>
      </p:sp>
      <p:sp>
        <p:nvSpPr>
          <p:cNvPr id="18" name="3D-Kugel 50"/>
          <p:cNvSpPr/>
          <p:nvPr/>
        </p:nvSpPr>
        <p:spPr>
          <a:xfrm>
            <a:off x="7719701" y="1703481"/>
            <a:ext cx="247639" cy="247639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123820" h="74292" prst="circle"/>
          </a:sp3d>
        </p:spPr>
      </p:sp>
      <p:sp>
        <p:nvSpPr>
          <p:cNvPr id="19" name="3D-Kugel 51"/>
          <p:cNvSpPr/>
          <p:nvPr/>
        </p:nvSpPr>
        <p:spPr>
          <a:xfrm>
            <a:off x="10707544" y="4243425"/>
            <a:ext cx="113104" cy="11310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6552" h="33931" prst="circle"/>
          </a:sp3d>
        </p:spPr>
      </p:sp>
      <p:sp>
        <p:nvSpPr>
          <p:cNvPr id="20" name="3D-Kugel 52"/>
          <p:cNvSpPr/>
          <p:nvPr/>
        </p:nvSpPr>
        <p:spPr>
          <a:xfrm>
            <a:off x="9816976" y="1745023"/>
            <a:ext cx="116702" cy="116702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58351" h="35011" prst="circle"/>
          </a:sp3d>
        </p:spPr>
      </p:sp>
      <p:sp>
        <p:nvSpPr>
          <p:cNvPr id="21" name="3D-Kugel 53"/>
          <p:cNvSpPr/>
          <p:nvPr/>
        </p:nvSpPr>
        <p:spPr>
          <a:xfrm>
            <a:off x="10848410" y="3017643"/>
            <a:ext cx="119751" cy="119751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59876" h="35925" prst="circle"/>
          </a:sp3d>
        </p:spPr>
      </p:sp>
      <p:sp>
        <p:nvSpPr>
          <p:cNvPr id="22" name="3D-Kugel 54"/>
          <p:cNvSpPr/>
          <p:nvPr/>
        </p:nvSpPr>
        <p:spPr>
          <a:xfrm>
            <a:off x="11325051" y="4380101"/>
            <a:ext cx="221308" cy="22130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10654" h="66392" prst="circle"/>
          </a:sp3d>
        </p:spPr>
      </p:sp>
      <p:sp>
        <p:nvSpPr>
          <p:cNvPr id="23" name="3D-Kugel 55"/>
          <p:cNvSpPr/>
          <p:nvPr/>
        </p:nvSpPr>
        <p:spPr>
          <a:xfrm>
            <a:off x="9081953" y="2369884"/>
            <a:ext cx="282692" cy="282692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141346" h="84808" prst="circle"/>
          </a:sp3d>
        </p:spPr>
      </p:sp>
      <p:sp>
        <p:nvSpPr>
          <p:cNvPr id="24" name="3D-Kugel Kapitelsymbol"/>
          <p:cNvSpPr/>
          <p:nvPr/>
        </p:nvSpPr>
        <p:spPr>
          <a:xfrm>
            <a:off x="8412480" y="1874520"/>
            <a:ext cx="2743200" cy="274320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355600" dist="152400" dir="5400000">
              <a:srgbClr val="1A1033">
                <a:alpha val="440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1371600" h="822960" prst="circle"/>
          </a:sp3d>
        </p:spPr>
      </p:sp>
      <p:pic>
        <p:nvPicPr>
          <p:cNvPr id="25" name="Kapitelsymbo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0" y="2423160"/>
            <a:ext cx="1645920" cy="164592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731520" y="1280160"/>
            <a:ext cx="182880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1A1033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4000" dirty="0"/>
          </a:p>
        </p:txBody>
      </p:sp>
      <p:sp>
        <p:nvSpPr>
          <p:cNvPr id="27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Fastenzeit</a:t>
            </a:r>
            <a:endParaRPr lang="en-US" sz="58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Der Weg von Aschermittwoch bis Ostersonntag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eitlinie"/>
          <p:cNvSpPr/>
          <p:nvPr/>
        </p:nvSpPr>
        <p:spPr>
          <a:xfrm>
            <a:off x="1931670" y="2331720"/>
            <a:ext cx="829818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dash"/>
          </a:ln>
        </p:spPr>
      </p:sp>
      <p:sp>
        <p:nvSpPr>
          <p:cNvPr id="3" name="3D-Kugel Symbol 56"/>
          <p:cNvSpPr/>
          <p:nvPr/>
        </p:nvSpPr>
        <p:spPr>
          <a:xfrm>
            <a:off x="1474470" y="1874520"/>
            <a:ext cx="914400" cy="91440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4" name="Symbol 5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3926" y="2093976"/>
            <a:ext cx="475488" cy="475488"/>
          </a:xfrm>
          <a:prstGeom prst="rect">
            <a:avLst/>
          </a:prstGeom>
        </p:spPr>
      </p:pic>
      <p:sp>
        <p:nvSpPr>
          <p:cNvPr id="5" name="Station 1"/>
          <p:cNvSpPr txBox="1"/>
          <p:nvPr/>
        </p:nvSpPr>
        <p:spPr>
          <a:xfrm>
            <a:off x="640080" y="2971800"/>
            <a:ext cx="25831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Aschermittwoch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&amp; Fastenzeit</a:t>
            </a:r>
            <a:endParaRPr lang="en-US" sz="1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58368" y="3931920"/>
            <a:ext cx="25466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Ende des Karnevals. Im Gottesdienst gibt es ein Kreuz aus Asche auf die Stirn. Dann folgen 40 Tage Verzicht als Vorbereitung auf Ostern.</a:t>
            </a:r>
            <a:endParaRPr lang="en-US" sz="1500" dirty="0"/>
          </a:p>
        </p:txBody>
      </p:sp>
      <p:sp>
        <p:nvSpPr>
          <p:cNvPr id="7" name="3D-Kugel Symbol 57"/>
          <p:cNvSpPr/>
          <p:nvPr/>
        </p:nvSpPr>
        <p:spPr>
          <a:xfrm>
            <a:off x="4240530" y="1874520"/>
            <a:ext cx="914400" cy="914400"/>
          </a:xfrm>
          <a:prstGeom prst="ellipse">
            <a:avLst/>
          </a:prstGeom>
          <a:solidFill>
            <a:schemeClr val="accent4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8" name="Symbol 5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986" y="2093976"/>
            <a:ext cx="475488" cy="475488"/>
          </a:xfrm>
          <a:prstGeom prst="rect">
            <a:avLst/>
          </a:prstGeom>
        </p:spPr>
      </p:pic>
      <p:sp>
        <p:nvSpPr>
          <p:cNvPr id="9" name="Station 2"/>
          <p:cNvSpPr txBox="1"/>
          <p:nvPr/>
        </p:nvSpPr>
        <p:spPr>
          <a:xfrm>
            <a:off x="3406140" y="2971800"/>
            <a:ext cx="25831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Karwoche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ab Palmsonntag</a:t>
            </a:r>
            <a:endParaRPr lang="en-US" sz="1800" dirty="0"/>
          </a:p>
        </p:txBody>
      </p:sp>
      <p:sp>
        <p:nvSpPr>
          <p:cNvPr id="10" name="Text 0"/>
          <p:cNvSpPr/>
          <p:nvPr>
            <p:ph idx="102" type="body" hasCustomPrompt="1"/>
          </p:nvPr>
        </p:nvSpPr>
        <p:spPr>
          <a:xfrm>
            <a:off x="3424428" y="3931920"/>
            <a:ext cx="25466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Jesus zieht auf einem Esel in Jerusalem ein und wird bejubelt. „Kar“ heißt Klage oder Trauer: Christen denken an sein Leiden.</a:t>
            </a:r>
            <a:endParaRPr lang="en-US" sz="1500" dirty="0"/>
          </a:p>
        </p:txBody>
      </p:sp>
      <p:sp>
        <p:nvSpPr>
          <p:cNvPr id="11" name="3D-Kugel Symbol 58"/>
          <p:cNvSpPr/>
          <p:nvPr/>
        </p:nvSpPr>
        <p:spPr>
          <a:xfrm>
            <a:off x="7006590" y="1874520"/>
            <a:ext cx="914400" cy="91440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12" name="Symbol 5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6046" y="2093976"/>
            <a:ext cx="475488" cy="475488"/>
          </a:xfrm>
          <a:prstGeom prst="rect">
            <a:avLst/>
          </a:prstGeom>
        </p:spPr>
      </p:pic>
      <p:sp>
        <p:nvSpPr>
          <p:cNvPr id="13" name="Station 3"/>
          <p:cNvSpPr txBox="1"/>
          <p:nvPr/>
        </p:nvSpPr>
        <p:spPr>
          <a:xfrm>
            <a:off x="6172200" y="2971800"/>
            <a:ext cx="25831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Gründonnerstag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&amp; Karfreitag</a:t>
            </a:r>
            <a:endParaRPr lang="en-US" sz="1800" dirty="0"/>
          </a:p>
        </p:txBody>
      </p:sp>
      <p:sp>
        <p:nvSpPr>
          <p:cNvPr id="14" name="Text 0"/>
          <p:cNvSpPr/>
          <p:nvPr>
            <p:ph idx="103" type="body" hasCustomPrompt="1"/>
          </p:nvPr>
        </p:nvSpPr>
        <p:spPr>
          <a:xfrm>
            <a:off x="6190488" y="3931920"/>
            <a:ext cx="25466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Gründonnerstag: letztes Abendmahl mit den Jüngern. Karfreitag: Kreuzigung und Tod Jesu – Gottesdienste um 15 Uhr.</a:t>
            </a:r>
            <a:endParaRPr lang="en-US" sz="1500" dirty="0"/>
          </a:p>
        </p:txBody>
      </p:sp>
      <p:sp>
        <p:nvSpPr>
          <p:cNvPr id="15" name="3D-Kugel Symbol 59"/>
          <p:cNvSpPr/>
          <p:nvPr/>
        </p:nvSpPr>
        <p:spPr>
          <a:xfrm>
            <a:off x="9772650" y="1874520"/>
            <a:ext cx="914400" cy="9144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16" name="Symbol 5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2106" y="2093976"/>
            <a:ext cx="475488" cy="475488"/>
          </a:xfrm>
          <a:prstGeom prst="rect">
            <a:avLst/>
          </a:prstGeom>
        </p:spPr>
      </p:pic>
      <p:sp>
        <p:nvSpPr>
          <p:cNvPr id="17" name="Station 4"/>
          <p:cNvSpPr txBox="1"/>
          <p:nvPr/>
        </p:nvSpPr>
        <p:spPr>
          <a:xfrm>
            <a:off x="8938260" y="2971800"/>
            <a:ext cx="25831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Ostersonntag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Auferstehung</a:t>
            </a:r>
            <a:endParaRPr lang="en-US" sz="1800" dirty="0"/>
          </a:p>
        </p:txBody>
      </p:sp>
      <p:sp>
        <p:nvSpPr>
          <p:cNvPr id="18" name="Text 0"/>
          <p:cNvSpPr/>
          <p:nvPr>
            <p:ph idx="104" type="body" hasCustomPrompt="1"/>
          </p:nvPr>
        </p:nvSpPr>
        <p:spPr>
          <a:xfrm>
            <a:off x="8956548" y="3931920"/>
            <a:ext cx="25466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Christen feiern, dass Jesus von den Toten auferstanden ist. Das höchste Fest im Christentum.</a:t>
            </a:r>
            <a:endParaRPr lang="en-US" sz="1500" dirty="0"/>
          </a:p>
        </p:txBody>
      </p:sp>
      <p:sp>
        <p:nvSpPr>
          <p:cNvPr id="19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Von Aschermittwoch bis Ostersonntag</a:t>
            </a:r>
            <a:endParaRPr lang="en-US" sz="3600" dirty="0"/>
          </a:p>
        </p:txBody>
      </p:sp>
      <p:sp>
        <p:nvSpPr>
          <p:cNvPr id="20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Quellen: Erzbistum Köln; ZDFheute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280160"/>
            <a:ext cx="182880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1A1033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4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Ostern</a:t>
            </a:r>
            <a:endParaRPr lang="en-US" sz="5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Das Fest der Auferstehung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Bildschatten"/>
          <p:cNvSpPr/>
          <p:nvPr/>
        </p:nvSpPr>
        <p:spPr>
          <a:xfrm>
            <a:off x="548640" y="1600200"/>
            <a:ext cx="4892040" cy="4480560"/>
          </a:xfrm>
          <a:prstGeom prst="roundRect">
            <a:avLst>
              <a:gd name="adj" fmla="val 4490"/>
            </a:avLst>
          </a:prstGeom>
          <a:solidFill>
            <a:schemeClr val="bg1"/>
          </a:solidFill>
          <a:ln/>
          <a:effectLst>
            <a:outerShdw sx="100000" sy="100000" kx="0" ky="0" algn="bl" rotWithShape="0" blurRad="284480" dist="121920" dir="5400000">
              <a:srgbClr val="1A1033">
                <a:alpha val="352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pic>
        <p:nvPicPr>
          <p:cNvPr id="3" name="Illustration foto-ostern" descr="art/foto-oste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4892040" cy="4480560"/>
          </a:xfrm>
          <a:prstGeom prst="rect">
            <a:avLst/>
          </a:prstGeom>
        </p:spPr>
      </p:pic>
      <p:sp>
        <p:nvSpPr>
          <p:cNvPr id="4" name="3D-Ei 60"/>
          <p:cNvSpPr/>
          <p:nvPr/>
        </p:nvSpPr>
        <p:spPr>
          <a:xfrm rot="600000">
            <a:off x="11567160" y="1600200"/>
            <a:ext cx="411480" cy="534924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205740" h="123444" prst="circle"/>
          </a:sp3d>
        </p:spPr>
      </p:sp>
      <p:sp>
        <p:nvSpPr>
          <p:cNvPr id="5" name="Glanzlicht 61"/>
          <p:cNvSpPr/>
          <p:nvPr/>
        </p:nvSpPr>
        <p:spPr>
          <a:xfrm rot="-1200000">
            <a:off x="11649456" y="1653692"/>
            <a:ext cx="131674" cy="10698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6" name="3D-Ei 62"/>
          <p:cNvSpPr/>
          <p:nvPr/>
        </p:nvSpPr>
        <p:spPr>
          <a:xfrm rot="-600000">
            <a:off x="11704320" y="2240280"/>
            <a:ext cx="310896" cy="404165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155448" h="93269" prst="circle"/>
          </a:sp3d>
        </p:spPr>
      </p:sp>
      <p:sp>
        <p:nvSpPr>
          <p:cNvPr id="7" name="Glanzlicht 63"/>
          <p:cNvSpPr/>
          <p:nvPr/>
        </p:nvSpPr>
        <p:spPr>
          <a:xfrm rot="-2400000">
            <a:off x="11766499" y="2280696"/>
            <a:ext cx="99487" cy="80833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8" name="3D-Ei 64"/>
          <p:cNvSpPr/>
          <p:nvPr/>
        </p:nvSpPr>
        <p:spPr>
          <a:xfrm rot="480000">
            <a:off x="11567160" y="2743200"/>
            <a:ext cx="274320" cy="356616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137160" h="82296" prst="circle"/>
          </a:sp3d>
        </p:spPr>
      </p:sp>
      <p:sp>
        <p:nvSpPr>
          <p:cNvPr id="9" name="Glanzlicht 65"/>
          <p:cNvSpPr/>
          <p:nvPr/>
        </p:nvSpPr>
        <p:spPr>
          <a:xfrm rot="-1320000">
            <a:off x="11622024" y="2778862"/>
            <a:ext cx="87782" cy="71323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Was feiern Christen an Ostern?</a:t>
            </a:r>
            <a:endParaRPr lang="en-US" sz="3600" dirty="0"/>
          </a:p>
        </p:txBody>
      </p:sp>
      <p:sp>
        <p:nvSpPr>
          <p:cNvPr id="11" name="Text 0"/>
          <p:cNvSpPr/>
          <p:nvPr>
            <p:ph idx="102" type="body" hasCustomPrompt="1"/>
          </p:nvPr>
        </p:nvSpPr>
        <p:spPr>
          <a:xfrm>
            <a:off x="5943600" y="1600200"/>
            <a:ext cx="56692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Das wichtigste Fest: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Ostern ist das älteste und höchste Fest der Christen.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Auferstehung: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Jesus starb am Kreuz – Christen glauben, dass er von den Toten auferstanden ist.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Hoffnung: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Der Tod hat nicht das letzte Wort. Ostern steht für neues Leben.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Beweglicher Feiertag: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immer der Sonntag nach dem ersten Vollmond im Frühling.</a:t>
            </a:r>
            <a:endParaRPr lang="en-US" sz="1800" dirty="0"/>
          </a:p>
        </p:txBody>
      </p:sp>
      <p:sp>
        <p:nvSpPr>
          <p:cNvPr id="12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Quelle: ZDFheute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1" hasCustomPrompt="1"/>
          </p:nvPr>
        </p:nvSpPr>
        <p:spPr>
          <a:xfrm>
            <a:off x="548640" y="1600200"/>
            <a:ext cx="48920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eitlinie"/>
          <p:cNvSpPr/>
          <p:nvPr/>
        </p:nvSpPr>
        <p:spPr>
          <a:xfrm>
            <a:off x="1655064" y="2514600"/>
            <a:ext cx="8851392" cy="0"/>
          </a:xfrm>
          <a:prstGeom prst="line">
            <a:avLst/>
          </a:prstGeom>
          <a:noFill/>
          <a:ln w="38100">
            <a:solidFill>
              <a:schemeClr val="accent5"/>
            </a:solidFill>
            <a:prstDash val="solid"/>
          </a:ln>
        </p:spPr>
      </p:sp>
      <p:sp>
        <p:nvSpPr>
          <p:cNvPr id="3" name="3D-Ei 66"/>
          <p:cNvSpPr/>
          <p:nvPr/>
        </p:nvSpPr>
        <p:spPr>
          <a:xfrm>
            <a:off x="1271016" y="2011680"/>
            <a:ext cx="768096" cy="998525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4" name="Glanzlicht 67"/>
          <p:cNvSpPr/>
          <p:nvPr/>
        </p:nvSpPr>
        <p:spPr>
          <a:xfrm rot="-1800000">
            <a:off x="1424635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71016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ag 1"/>
          <p:cNvSpPr txBox="1"/>
          <p:nvPr/>
        </p:nvSpPr>
        <p:spPr>
          <a:xfrm>
            <a:off x="594360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Palmsonntag</a:t>
            </a:r>
            <a:endParaRPr lang="en-US" sz="17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58368" y="3931920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Einzug Jesu in Jerusalem auf einem Esel. Die Menschen jubeln ihm zu.</a:t>
            </a:r>
            <a:endParaRPr lang="en-US" sz="1400" dirty="0"/>
          </a:p>
        </p:txBody>
      </p:sp>
      <p:sp>
        <p:nvSpPr>
          <p:cNvPr id="8" name="3D-Ei 68"/>
          <p:cNvSpPr/>
          <p:nvPr/>
        </p:nvSpPr>
        <p:spPr>
          <a:xfrm>
            <a:off x="3483864" y="2011680"/>
            <a:ext cx="768096" cy="998525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9" name="Glanzlicht 69"/>
          <p:cNvSpPr/>
          <p:nvPr/>
        </p:nvSpPr>
        <p:spPr>
          <a:xfrm rot="-1800000">
            <a:off x="3637483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83864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ag 2"/>
          <p:cNvSpPr txBox="1"/>
          <p:nvPr/>
        </p:nvSpPr>
        <p:spPr>
          <a:xfrm>
            <a:off x="2807208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Gründonnerstag</a:t>
            </a:r>
            <a:endParaRPr lang="en-US" sz="1700" dirty="0"/>
          </a:p>
        </p:txBody>
      </p:sp>
      <p:sp>
        <p:nvSpPr>
          <p:cNvPr id="12" name="Text 0"/>
          <p:cNvSpPr/>
          <p:nvPr>
            <p:ph idx="102" type="body" hasCustomPrompt="1"/>
          </p:nvPr>
        </p:nvSpPr>
        <p:spPr>
          <a:xfrm>
            <a:off x="2871216" y="3931920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Letztes Abendmahl mit den Jüngern. „Grün“ kommt wohl von einem alten Wort für Weinen.</a:t>
            </a:r>
            <a:endParaRPr lang="en-US" sz="1400" dirty="0"/>
          </a:p>
        </p:txBody>
      </p:sp>
      <p:sp>
        <p:nvSpPr>
          <p:cNvPr id="13" name="3D-Ei 70"/>
          <p:cNvSpPr/>
          <p:nvPr/>
        </p:nvSpPr>
        <p:spPr>
          <a:xfrm>
            <a:off x="5696712" y="2011680"/>
            <a:ext cx="768096" cy="998525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14" name="Glanzlicht 71"/>
          <p:cNvSpPr/>
          <p:nvPr/>
        </p:nvSpPr>
        <p:spPr>
          <a:xfrm rot="-1800000">
            <a:off x="5850331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96712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ag 3"/>
          <p:cNvSpPr txBox="1"/>
          <p:nvPr/>
        </p:nvSpPr>
        <p:spPr>
          <a:xfrm>
            <a:off x="5020056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Karfreitag</a:t>
            </a:r>
            <a:endParaRPr lang="en-US" sz="1700" dirty="0"/>
          </a:p>
        </p:txBody>
      </p:sp>
      <p:sp>
        <p:nvSpPr>
          <p:cNvPr id="17" name="Text 0"/>
          <p:cNvSpPr/>
          <p:nvPr>
            <p:ph idx="103" type="body" hasCustomPrompt="1"/>
          </p:nvPr>
        </p:nvSpPr>
        <p:spPr>
          <a:xfrm>
            <a:off x="5084064" y="3931920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Kreuzigung und Tod Jesu. Strenger Fast- und Bußtag.</a:t>
            </a:r>
            <a:endParaRPr lang="en-US" sz="1400" dirty="0"/>
          </a:p>
        </p:txBody>
      </p:sp>
      <p:sp>
        <p:nvSpPr>
          <p:cNvPr id="18" name="3D-Ei 72"/>
          <p:cNvSpPr/>
          <p:nvPr/>
        </p:nvSpPr>
        <p:spPr>
          <a:xfrm>
            <a:off x="7909560" y="2011680"/>
            <a:ext cx="768096" cy="998525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19" name="Glanzlicht 73"/>
          <p:cNvSpPr/>
          <p:nvPr/>
        </p:nvSpPr>
        <p:spPr>
          <a:xfrm rot="-1800000">
            <a:off x="8063179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909560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ag 4"/>
          <p:cNvSpPr txBox="1"/>
          <p:nvPr/>
        </p:nvSpPr>
        <p:spPr>
          <a:xfrm>
            <a:off x="7232904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Karsamstag</a:t>
            </a:r>
            <a:endParaRPr lang="en-US" sz="1700" dirty="0"/>
          </a:p>
        </p:txBody>
      </p:sp>
      <p:sp>
        <p:nvSpPr>
          <p:cNvPr id="22" name="Text 0"/>
          <p:cNvSpPr/>
          <p:nvPr>
            <p:ph idx="104" type="body" hasCustomPrompt="1"/>
          </p:nvPr>
        </p:nvSpPr>
        <p:spPr>
          <a:xfrm>
            <a:off x="7296912" y="3931920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Tag der Grabesruhe Jesu.</a:t>
            </a:r>
            <a:endParaRPr lang="en-US" sz="1400" dirty="0"/>
          </a:p>
        </p:txBody>
      </p:sp>
      <p:sp>
        <p:nvSpPr>
          <p:cNvPr id="23" name="3D-Ei 74"/>
          <p:cNvSpPr/>
          <p:nvPr/>
        </p:nvSpPr>
        <p:spPr>
          <a:xfrm>
            <a:off x="10122408" y="2011680"/>
            <a:ext cx="768096" cy="998525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24" name="Glanzlicht 75"/>
          <p:cNvSpPr/>
          <p:nvPr/>
        </p:nvSpPr>
        <p:spPr>
          <a:xfrm rot="-1800000">
            <a:off x="10276027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122408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2000" dirty="0"/>
          </a:p>
        </p:txBody>
      </p:sp>
      <p:sp>
        <p:nvSpPr>
          <p:cNvPr id="26" name="Tag 5"/>
          <p:cNvSpPr txBox="1"/>
          <p:nvPr/>
        </p:nvSpPr>
        <p:spPr>
          <a:xfrm>
            <a:off x="9445752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Ostersonntag</a:t>
            </a:r>
            <a:endParaRPr lang="en-US" sz="1700" dirty="0"/>
          </a:p>
        </p:txBody>
      </p:sp>
      <p:sp>
        <p:nvSpPr>
          <p:cNvPr id="27" name="Text 0"/>
          <p:cNvSpPr/>
          <p:nvPr>
            <p:ph idx="105" type="body" hasCustomPrompt="1"/>
          </p:nvPr>
        </p:nvSpPr>
        <p:spPr>
          <a:xfrm>
            <a:off x="9509760" y="3931920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Auferstehung Jesu – Höhepunkt des Kirchenjahres.</a:t>
            </a:r>
            <a:endParaRPr lang="en-US" sz="1400" dirty="0"/>
          </a:p>
        </p:txBody>
      </p:sp>
      <p:sp>
        <p:nvSpPr>
          <p:cNvPr id="28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Die Karwoche im Detail</a:t>
            </a:r>
            <a:endParaRPr lang="en-US" sz="3600" dirty="0"/>
          </a:p>
        </p:txBody>
      </p:sp>
      <p:sp>
        <p:nvSpPr>
          <p:cNvPr id="29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Quelle: ZDFheute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Osterei"/>
          <p:cNvSpPr/>
          <p:nvPr/>
        </p:nvSpPr>
        <p:spPr>
          <a:xfrm>
            <a:off x="548640" y="1554480"/>
            <a:ext cx="5440680" cy="3749040"/>
          </a:xfrm>
          <a:prstGeom prst="roundRect">
            <a:avLst>
              <a:gd name="adj" fmla="val 5366"/>
            </a:avLst>
          </a:prstGeom>
          <a:solidFill>
            <a:schemeClr val="accent6"/>
          </a:solidFill>
          <a:ln/>
          <a:effectLst>
            <a:outerShdw sx="100000" sy="100000" kx="0" ky="0" algn="bl" rotWithShape="0" blurRad="231140" dist="99060" dir="5400000">
              <a:srgbClr val="1A1033">
                <a:alpha val="286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Fotorahmen Osterei"/>
          <p:cNvSpPr/>
          <p:nvPr/>
        </p:nvSpPr>
        <p:spPr>
          <a:xfrm>
            <a:off x="822960" y="1709928"/>
            <a:ext cx="877824" cy="877824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</p:spPr>
      </p:sp>
      <p:pic>
        <p:nvPicPr>
          <p:cNvPr id="4" name="Foto Osterei" descr="photos/eier-ru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764792"/>
            <a:ext cx="768096" cy="768096"/>
          </a:xfrm>
          <a:prstGeom prst="ellipse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288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Osterei</a:t>
            </a:r>
            <a:endParaRPr lang="en-US" sz="2600" dirty="0"/>
          </a:p>
        </p:txBody>
      </p:sp>
      <p:sp>
        <p:nvSpPr>
          <p:cNvPr id="6" name="3D-Karte Etikett Osterei"/>
          <p:cNvSpPr/>
          <p:nvPr/>
        </p:nvSpPr>
        <p:spPr>
          <a:xfrm>
            <a:off x="3931920" y="1938528"/>
            <a:ext cx="1691640" cy="42062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  <a:effectLst>
            <a:outerShdw sx="100000" sy="100000" kx="0" ky="0" algn="bl" rotWithShape="0" blurRad="88900" dist="38100" dir="5400000">
              <a:srgbClr val="1A1033">
                <a:alpha val="11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50475" h="25237" prst="softRound"/>
          </a:sp3d>
        </p:spPr>
      </p:sp>
      <p:sp>
        <p:nvSpPr>
          <p:cNvPr id="7" name="Text 4"/>
          <p:cNvSpPr txBox="1"/>
          <p:nvPr/>
        </p:nvSpPr>
        <p:spPr>
          <a:xfrm>
            <a:off x="3931920" y="193852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eher religiös</a:t>
            </a:r>
            <a:endParaRPr lang="en-US" sz="1400" dirty="0"/>
          </a:p>
        </p:txBody>
      </p:sp>
      <p:sp>
        <p:nvSpPr>
          <p:cNvPr id="8" name="3D-Karte Osterhase"/>
          <p:cNvSpPr/>
          <p:nvPr/>
        </p:nvSpPr>
        <p:spPr>
          <a:xfrm>
            <a:off x="6172200" y="1554480"/>
            <a:ext cx="5440680" cy="3749040"/>
          </a:xfrm>
          <a:prstGeom prst="roundRect">
            <a:avLst>
              <a:gd name="adj" fmla="val 5366"/>
            </a:avLst>
          </a:prstGeom>
          <a:solidFill>
            <a:schemeClr val="accent5"/>
          </a:solidFill>
          <a:ln/>
          <a:effectLst>
            <a:outerShdw sx="100000" sy="100000" kx="0" ky="0" algn="bl" rotWithShape="0" blurRad="231140" dist="99060" dir="5400000">
              <a:srgbClr val="1A1033">
                <a:alpha val="286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9" name="Fotorahmen Osterhase"/>
          <p:cNvSpPr/>
          <p:nvPr/>
        </p:nvSpPr>
        <p:spPr>
          <a:xfrm>
            <a:off x="6446520" y="1709928"/>
            <a:ext cx="877824" cy="877824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</p:spPr>
      </p:sp>
      <p:pic>
        <p:nvPicPr>
          <p:cNvPr id="10" name="Foto Osterhase" descr="photos/hase-run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4" y="1764792"/>
            <a:ext cx="768096" cy="768096"/>
          </a:xfrm>
          <a:prstGeom prst="ellipse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52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Osterhase</a:t>
            </a:r>
            <a:endParaRPr lang="en-US" sz="2600" dirty="0"/>
          </a:p>
        </p:txBody>
      </p:sp>
      <p:sp>
        <p:nvSpPr>
          <p:cNvPr id="12" name="3D-Karte Etikett Osterhase"/>
          <p:cNvSpPr/>
          <p:nvPr/>
        </p:nvSpPr>
        <p:spPr>
          <a:xfrm>
            <a:off x="9555480" y="1938528"/>
            <a:ext cx="1691640" cy="42062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  <a:effectLst>
            <a:outerShdw sx="100000" sy="100000" kx="0" ky="0" algn="bl" rotWithShape="0" blurRad="88900" dist="38100" dir="5400000">
              <a:srgbClr val="1A1033">
                <a:alpha val="11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50475" h="25237" prst="softRound"/>
          </a:sp3d>
        </p:spPr>
      </p:sp>
      <p:sp>
        <p:nvSpPr>
          <p:cNvPr id="13" name="Text 9"/>
          <p:cNvSpPr txBox="1"/>
          <p:nvPr/>
        </p:nvSpPr>
        <p:spPr>
          <a:xfrm>
            <a:off x="9555480" y="193852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eher kulturell</a:t>
            </a:r>
            <a:endParaRPr lang="en-US" sz="1400" dirty="0"/>
          </a:p>
        </p:txBody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Osterei &amp; Osterhase</a:t>
            </a:r>
            <a:endParaRPr lang="en-US" sz="36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914400" y="2697480"/>
            <a:ext cx="4709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Das Ei ist ein Zeichen für Leben.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Für Christen steht es für die Auferstehung Jesu.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→ religiöser Ursprung, der heute auch ein Volksbrauch ist.</a:t>
            </a:r>
            <a:endParaRPr lang="en-US" sz="1700" dirty="0"/>
          </a:p>
        </p:txBody>
      </p:sp>
      <p:sp>
        <p:nvSpPr>
          <p:cNvPr id="16" name="Text 0"/>
          <p:cNvSpPr/>
          <p:nvPr>
            <p:ph idx="102" type="body" hasCustomPrompt="1"/>
          </p:nvPr>
        </p:nvSpPr>
        <p:spPr>
          <a:xfrm>
            <a:off x="6537960" y="2697480"/>
            <a:ext cx="4709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Kommt in der Ostergeschichte der Bibel nicht vor (eigene Einschätzung).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Wird in den angegebenen Quellen nicht erklärt.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→ eher ein kultureller Brauch.</a:t>
            </a:r>
            <a:endParaRPr lang="en-US" sz="1700" dirty="0"/>
          </a:p>
        </p:txBody>
      </p:sp>
      <p:sp>
        <p:nvSpPr>
          <p:cNvPr id="17" name="Text 0"/>
          <p:cNvSpPr/>
          <p:nvPr>
            <p:ph idx="103" type="body" hasCustomPrompt="1"/>
          </p:nvPr>
        </p:nvSpPr>
        <p:spPr>
          <a:xfrm>
            <a:off x="548640" y="55321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Fazit: Das Osterei hat eine christliche Bedeutung – der Osterhase ist eher ein kultureller Brauch.</a:t>
            </a:r>
            <a:endParaRPr lang="en-US" sz="1800" dirty="0"/>
          </a:p>
        </p:txBody>
      </p:sp>
      <p:sp>
        <p:nvSpPr>
          <p:cNvPr id="18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Quelle: ZDFheute; Osterhase: eigene Einschätzung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76"/>
          <p:cNvSpPr/>
          <p:nvPr/>
        </p:nvSpPr>
        <p:spPr>
          <a:xfrm>
            <a:off x="11271659" y="699371"/>
            <a:ext cx="302823" cy="30282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51412" h="90847" prst="circle"/>
          </a:sp3d>
        </p:spPr>
      </p:sp>
      <p:sp>
        <p:nvSpPr>
          <p:cNvPr id="3" name="3D-Kugel 77"/>
          <p:cNvSpPr/>
          <p:nvPr/>
        </p:nvSpPr>
        <p:spPr>
          <a:xfrm>
            <a:off x="11322853" y="1126452"/>
            <a:ext cx="185165" cy="185165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92583" h="55550" prst="circle"/>
          </a:sp3d>
        </p:spPr>
      </p:sp>
      <p:sp>
        <p:nvSpPr>
          <p:cNvPr id="4" name="3D-Kugel 78"/>
          <p:cNvSpPr/>
          <p:nvPr/>
        </p:nvSpPr>
        <p:spPr>
          <a:xfrm>
            <a:off x="9695728" y="4086472"/>
            <a:ext cx="179224" cy="179224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89612" h="53767" prst="circle"/>
          </a:sp3d>
        </p:spPr>
      </p:sp>
      <p:sp>
        <p:nvSpPr>
          <p:cNvPr id="5" name="3D-Kugel 79"/>
          <p:cNvSpPr/>
          <p:nvPr/>
        </p:nvSpPr>
        <p:spPr>
          <a:xfrm>
            <a:off x="8169724" y="6040574"/>
            <a:ext cx="146317" cy="146317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73159" h="43895" prst="circle"/>
          </a:sp3d>
        </p:spPr>
      </p:sp>
      <p:sp>
        <p:nvSpPr>
          <p:cNvPr id="6" name="3D-Kugel 80"/>
          <p:cNvSpPr/>
          <p:nvPr/>
        </p:nvSpPr>
        <p:spPr>
          <a:xfrm>
            <a:off x="8415113" y="3318187"/>
            <a:ext cx="185504" cy="18550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92752" h="55651" prst="circle"/>
          </a:sp3d>
        </p:spPr>
      </p:sp>
      <p:sp>
        <p:nvSpPr>
          <p:cNvPr id="7" name="3D-Kugel 81"/>
          <p:cNvSpPr/>
          <p:nvPr/>
        </p:nvSpPr>
        <p:spPr>
          <a:xfrm>
            <a:off x="8100316" y="4720667"/>
            <a:ext cx="158101" cy="158101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79051" h="47430" prst="circle"/>
          </a:sp3d>
        </p:spPr>
      </p:sp>
      <p:sp>
        <p:nvSpPr>
          <p:cNvPr id="8" name="3D-Kugel 82"/>
          <p:cNvSpPr/>
          <p:nvPr/>
        </p:nvSpPr>
        <p:spPr>
          <a:xfrm>
            <a:off x="8894107" y="456482"/>
            <a:ext cx="163167" cy="163167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1584" h="48950" prst="circle"/>
          </a:sp3d>
        </p:spPr>
      </p:sp>
      <p:sp>
        <p:nvSpPr>
          <p:cNvPr id="9" name="3D-Kugel 83"/>
          <p:cNvSpPr/>
          <p:nvPr/>
        </p:nvSpPr>
        <p:spPr>
          <a:xfrm>
            <a:off x="8417912" y="5287084"/>
            <a:ext cx="299763" cy="299763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49882" h="89929" prst="circle"/>
          </a:sp3d>
        </p:spPr>
      </p:sp>
      <p:sp>
        <p:nvSpPr>
          <p:cNvPr id="10" name="3D-Kugel 84"/>
          <p:cNvSpPr/>
          <p:nvPr/>
        </p:nvSpPr>
        <p:spPr>
          <a:xfrm>
            <a:off x="8427863" y="3657313"/>
            <a:ext cx="191460" cy="191460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95730" h="57438" prst="circle"/>
          </a:sp3d>
        </p:spPr>
      </p:sp>
      <p:sp>
        <p:nvSpPr>
          <p:cNvPr id="11" name="3D-Kugel 85"/>
          <p:cNvSpPr/>
          <p:nvPr/>
        </p:nvSpPr>
        <p:spPr>
          <a:xfrm>
            <a:off x="10538623" y="3972227"/>
            <a:ext cx="175063" cy="17506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7532" h="52519" prst="circle"/>
          </a:sp3d>
        </p:spPr>
      </p:sp>
      <p:sp>
        <p:nvSpPr>
          <p:cNvPr id="12" name="3D-Kugel 86"/>
          <p:cNvSpPr/>
          <p:nvPr/>
        </p:nvSpPr>
        <p:spPr>
          <a:xfrm>
            <a:off x="8392856" y="2755594"/>
            <a:ext cx="111888" cy="11188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5944" h="33566" prst="circle"/>
          </a:sp3d>
        </p:spPr>
      </p:sp>
      <p:sp>
        <p:nvSpPr>
          <p:cNvPr id="13" name="3D-Kugel 87"/>
          <p:cNvSpPr/>
          <p:nvPr/>
        </p:nvSpPr>
        <p:spPr>
          <a:xfrm>
            <a:off x="11776562" y="2523389"/>
            <a:ext cx="100994" cy="100994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50497" h="30298" prst="circle"/>
          </a:sp3d>
        </p:spPr>
      </p:sp>
      <p:sp>
        <p:nvSpPr>
          <p:cNvPr id="14" name="3D-Kugel 88"/>
          <p:cNvSpPr/>
          <p:nvPr/>
        </p:nvSpPr>
        <p:spPr>
          <a:xfrm>
            <a:off x="10047516" y="5766867"/>
            <a:ext cx="241443" cy="24144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20722" h="72433" prst="circle"/>
          </a:sp3d>
        </p:spPr>
      </p:sp>
      <p:sp>
        <p:nvSpPr>
          <p:cNvPr id="15" name="3D-Kugel 89"/>
          <p:cNvSpPr/>
          <p:nvPr/>
        </p:nvSpPr>
        <p:spPr>
          <a:xfrm>
            <a:off x="9253206" y="3016992"/>
            <a:ext cx="156804" cy="15680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78402" h="47041" prst="circle"/>
          </a:sp3d>
        </p:spPr>
      </p:sp>
      <p:sp>
        <p:nvSpPr>
          <p:cNvPr id="16" name="3D-Kugel 90"/>
          <p:cNvSpPr/>
          <p:nvPr/>
        </p:nvSpPr>
        <p:spPr>
          <a:xfrm>
            <a:off x="10852307" y="2728974"/>
            <a:ext cx="183884" cy="183884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91942" h="55165" prst="circle"/>
          </a:sp3d>
        </p:spPr>
      </p:sp>
      <p:sp>
        <p:nvSpPr>
          <p:cNvPr id="17" name="3D-Kugel 91"/>
          <p:cNvSpPr/>
          <p:nvPr/>
        </p:nvSpPr>
        <p:spPr>
          <a:xfrm>
            <a:off x="8541963" y="1417915"/>
            <a:ext cx="183997" cy="183997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91999" h="55199" prst="circle"/>
          </a:sp3d>
        </p:spPr>
      </p:sp>
      <p:sp>
        <p:nvSpPr>
          <p:cNvPr id="18" name="3D-Kugel 92"/>
          <p:cNvSpPr/>
          <p:nvPr/>
        </p:nvSpPr>
        <p:spPr>
          <a:xfrm>
            <a:off x="8004152" y="1608153"/>
            <a:ext cx="256204" cy="25620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28102" h="76861" prst="circle"/>
          </a:sp3d>
        </p:spPr>
      </p:sp>
      <p:sp>
        <p:nvSpPr>
          <p:cNvPr id="19" name="3D-Kugel 93"/>
          <p:cNvSpPr/>
          <p:nvPr/>
        </p:nvSpPr>
        <p:spPr>
          <a:xfrm>
            <a:off x="10869535" y="5828138"/>
            <a:ext cx="261820" cy="261820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130910" h="78546" prst="circle"/>
          </a:sp3d>
        </p:spPr>
      </p:sp>
      <p:sp>
        <p:nvSpPr>
          <p:cNvPr id="20" name="3D-Kugel 94"/>
          <p:cNvSpPr/>
          <p:nvPr/>
        </p:nvSpPr>
        <p:spPr>
          <a:xfrm>
            <a:off x="10846634" y="4465224"/>
            <a:ext cx="299906" cy="299906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49953" h="89972" prst="circle"/>
          </a:sp3d>
        </p:spPr>
      </p:sp>
      <p:sp>
        <p:nvSpPr>
          <p:cNvPr id="21" name="3D-Kugel 95"/>
          <p:cNvSpPr/>
          <p:nvPr/>
        </p:nvSpPr>
        <p:spPr>
          <a:xfrm>
            <a:off x="9686251" y="6194465"/>
            <a:ext cx="231778" cy="23177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15889" h="69533" prst="circle"/>
          </a:sp3d>
        </p:spPr>
      </p:sp>
      <p:sp>
        <p:nvSpPr>
          <p:cNvPr id="22" name="3D-Kugel 96"/>
          <p:cNvSpPr/>
          <p:nvPr/>
        </p:nvSpPr>
        <p:spPr>
          <a:xfrm>
            <a:off x="8926211" y="1290513"/>
            <a:ext cx="156496" cy="156496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78248" h="46949" prst="circle"/>
          </a:sp3d>
        </p:spPr>
      </p:sp>
      <p:sp>
        <p:nvSpPr>
          <p:cNvPr id="23" name="3D-Kugel 97"/>
          <p:cNvSpPr/>
          <p:nvPr/>
        </p:nvSpPr>
        <p:spPr>
          <a:xfrm>
            <a:off x="10245609" y="4491381"/>
            <a:ext cx="173119" cy="17311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6560" h="51936" prst="circle"/>
          </a:sp3d>
        </p:spPr>
      </p:sp>
      <p:sp>
        <p:nvSpPr>
          <p:cNvPr id="24" name="3D-Kugel 98"/>
          <p:cNvSpPr/>
          <p:nvPr/>
        </p:nvSpPr>
        <p:spPr>
          <a:xfrm>
            <a:off x="11364053" y="6175589"/>
            <a:ext cx="142963" cy="142963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71482" h="42889" prst="circle"/>
          </a:sp3d>
        </p:spPr>
      </p:sp>
      <p:sp>
        <p:nvSpPr>
          <p:cNvPr id="25" name="3D-Kugel 99"/>
          <p:cNvSpPr/>
          <p:nvPr/>
        </p:nvSpPr>
        <p:spPr>
          <a:xfrm>
            <a:off x="9846080" y="2677481"/>
            <a:ext cx="165090" cy="165090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82545" h="49527" prst="circle"/>
          </a:sp3d>
        </p:spPr>
      </p:sp>
      <p:sp>
        <p:nvSpPr>
          <p:cNvPr id="26" name="3D-Kugel 100"/>
          <p:cNvSpPr/>
          <p:nvPr/>
        </p:nvSpPr>
        <p:spPr>
          <a:xfrm>
            <a:off x="11542380" y="2796595"/>
            <a:ext cx="100814" cy="10081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50407" h="30244" prst="circle"/>
          </a:sp3d>
        </p:spPr>
      </p:sp>
      <p:sp>
        <p:nvSpPr>
          <p:cNvPr id="27" name="3D-Kugel 101"/>
          <p:cNvSpPr/>
          <p:nvPr/>
        </p:nvSpPr>
        <p:spPr>
          <a:xfrm>
            <a:off x="9787550" y="2798196"/>
            <a:ext cx="286940" cy="286940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43470" h="86082" prst="circle"/>
          </a:sp3d>
        </p:spPr>
      </p:sp>
      <p:sp>
        <p:nvSpPr>
          <p:cNvPr id="28" name="3D-Kugel Symbol 102"/>
          <p:cNvSpPr/>
          <p:nvPr/>
        </p:nvSpPr>
        <p:spPr>
          <a:xfrm>
            <a:off x="8138160" y="1097280"/>
            <a:ext cx="1737360" cy="173736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868680" h="521208" prst="circle"/>
          </a:sp3d>
        </p:spPr>
      </p:sp>
      <p:pic>
        <p:nvPicPr>
          <p:cNvPr id="29" name="Symbol 10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5126" y="1514246"/>
            <a:ext cx="903427" cy="903427"/>
          </a:xfrm>
          <a:prstGeom prst="rect">
            <a:avLst/>
          </a:prstGeom>
        </p:spPr>
      </p:pic>
      <p:sp>
        <p:nvSpPr>
          <p:cNvPr id="30" name="3D-Kugel Symbol 103"/>
          <p:cNvSpPr/>
          <p:nvPr/>
        </p:nvSpPr>
        <p:spPr>
          <a:xfrm>
            <a:off x="9966960" y="2468880"/>
            <a:ext cx="1737360" cy="173736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868680" h="521208" prst="circle"/>
          </a:sp3d>
        </p:spPr>
      </p:sp>
      <p:pic>
        <p:nvPicPr>
          <p:cNvPr id="31" name="Symbol 10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3926" y="2885846"/>
            <a:ext cx="903427" cy="903427"/>
          </a:xfrm>
          <a:prstGeom prst="rect">
            <a:avLst/>
          </a:prstGeom>
        </p:spPr>
      </p:pic>
      <p:sp>
        <p:nvSpPr>
          <p:cNvPr id="32" name="3D-Kugel Symbol 104"/>
          <p:cNvSpPr/>
          <p:nvPr/>
        </p:nvSpPr>
        <p:spPr>
          <a:xfrm>
            <a:off x="8229600" y="3931920"/>
            <a:ext cx="1737360" cy="173736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868680" h="521208" prst="circle"/>
          </a:sp3d>
        </p:spPr>
      </p:sp>
      <p:pic>
        <p:nvPicPr>
          <p:cNvPr id="33" name="Symbol 10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6566" y="4348886"/>
            <a:ext cx="903427" cy="903427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731520" y="1280160"/>
            <a:ext cx="182880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1A1033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04</a:t>
            </a:r>
            <a:endParaRPr lang="en-US" sz="4000" dirty="0"/>
          </a:p>
        </p:txBody>
      </p:sp>
      <p:sp>
        <p:nvSpPr>
          <p:cNvPr id="35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Andere Religionen</a:t>
            </a:r>
            <a:endParaRPr lang="en-US" sz="5800" dirty="0"/>
          </a:p>
        </p:txBody>
      </p:sp>
      <p:sp>
        <p:nvSpPr>
          <p:cNvPr id="36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Ähnliche Feste: Fasten, Feiern, Gemeinschaft und Neuanfang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1"/>
          <p:cNvSpPr/>
          <p:nvPr/>
        </p:nvSpPr>
        <p:spPr>
          <a:xfrm>
            <a:off x="54864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Kugel Symbol 105"/>
          <p:cNvSpPr/>
          <p:nvPr/>
        </p:nvSpPr>
        <p:spPr>
          <a:xfrm>
            <a:off x="914400" y="1965960"/>
            <a:ext cx="1005840" cy="1005840"/>
          </a:xfrm>
          <a:prstGeom prst="ellipse">
            <a:avLst/>
          </a:prstGeom>
          <a:solidFill>
            <a:schemeClr val="accent3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4" name="Symbol 10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5802" y="2207362"/>
            <a:ext cx="523037" cy="52303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103120" y="21945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Islam</a:t>
            </a:r>
            <a:endParaRPr lang="en-US" sz="1500" dirty="0"/>
          </a:p>
        </p:txBody>
      </p:sp>
      <p:sp>
        <p:nvSpPr>
          <p:cNvPr id="6" name="3D-Karte 2"/>
          <p:cNvSpPr/>
          <p:nvPr/>
        </p:nvSpPr>
        <p:spPr>
          <a:xfrm>
            <a:off x="434340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7" name="3D-Kugel Symbol 106"/>
          <p:cNvSpPr/>
          <p:nvPr/>
        </p:nvSpPr>
        <p:spPr>
          <a:xfrm>
            <a:off x="4709160" y="1965960"/>
            <a:ext cx="1005840" cy="1005840"/>
          </a:xfrm>
          <a:prstGeom prst="ellipse">
            <a:avLst/>
          </a:prstGeom>
          <a:solidFill>
            <a:schemeClr val="accent4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8" name="Symbol 10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562" y="2207362"/>
            <a:ext cx="523037" cy="52303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97880" y="21945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Judentum</a:t>
            </a:r>
            <a:endParaRPr lang="en-US" sz="1500" dirty="0"/>
          </a:p>
        </p:txBody>
      </p:sp>
      <p:sp>
        <p:nvSpPr>
          <p:cNvPr id="10" name="3D-Karte 3"/>
          <p:cNvSpPr/>
          <p:nvPr/>
        </p:nvSpPr>
        <p:spPr>
          <a:xfrm>
            <a:off x="813816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11" name="3D-Kugel Symbol 107"/>
          <p:cNvSpPr/>
          <p:nvPr/>
        </p:nvSpPr>
        <p:spPr>
          <a:xfrm>
            <a:off x="8503920" y="1965960"/>
            <a:ext cx="1005840" cy="100584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12" name="Symbol 10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5322" y="2207362"/>
            <a:ext cx="523037" cy="52303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692640" y="21945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Hinduismus</a:t>
            </a:r>
            <a:endParaRPr lang="en-US" sz="1500" dirty="0"/>
          </a:p>
        </p:txBody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Ähnliche Feste in anderen Religionen</a:t>
            </a:r>
            <a:endParaRPr lang="en-US" sz="36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91440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Ramadan</a:t>
            </a:r>
            <a:endParaRPr lang="en-US" sz="2200" dirty="0"/>
          </a:p>
        </p:txBody>
      </p:sp>
      <p:sp>
        <p:nvSpPr>
          <p:cNvPr id="16" name="Text 0"/>
          <p:cNvSpPr/>
          <p:nvPr>
            <p:ph idx="102" type="body" hasCustomPrompt="1"/>
          </p:nvPr>
        </p:nvSpPr>
        <p:spPr>
          <a:xfrm>
            <a:off x="91440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Ein Monat Fasten von morgens bis Sonnenuntergang. Kranke, Kinder und Reisende sind befreit. Am Ende: mehrtägiges Fest des Fastenbrechens (Zuckerfest).</a:t>
            </a:r>
            <a:endParaRPr lang="en-US" sz="1600" dirty="0"/>
          </a:p>
        </p:txBody>
      </p:sp>
      <p:sp>
        <p:nvSpPr>
          <p:cNvPr id="17" name="Text 0"/>
          <p:cNvSpPr/>
          <p:nvPr>
            <p:ph idx="103" type="body" hasCustomPrompt="1"/>
          </p:nvPr>
        </p:nvSpPr>
        <p:spPr>
          <a:xfrm>
            <a:off x="470916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Jom Kippur</a:t>
            </a:r>
            <a:endParaRPr lang="en-US" sz="2200" dirty="0"/>
          </a:p>
        </p:txBody>
      </p:sp>
      <p:sp>
        <p:nvSpPr>
          <p:cNvPr id="18" name="Text 0"/>
          <p:cNvSpPr/>
          <p:nvPr>
            <p:ph idx="104" type="body" hasCustomPrompt="1"/>
          </p:nvPr>
        </p:nvSpPr>
        <p:spPr>
          <a:xfrm>
            <a:off x="470916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Mit dem Neujahrsfest Rosch ha-Schana beginnt eine Zeit der Umkehr. Sie endet an Jom Kippur, dem höchsten Feiertag im Judentum.</a:t>
            </a:r>
            <a:endParaRPr lang="en-US" sz="1600" dirty="0"/>
          </a:p>
        </p:txBody>
      </p:sp>
      <p:sp>
        <p:nvSpPr>
          <p:cNvPr id="19" name="Text 0"/>
          <p:cNvSpPr/>
          <p:nvPr>
            <p:ph idx="105" type="body" hasCustomPrompt="1"/>
          </p:nvPr>
        </p:nvSpPr>
        <p:spPr>
          <a:xfrm>
            <a:off x="850392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Durga Puja</a:t>
            </a:r>
            <a:endParaRPr lang="en-US" sz="2200" dirty="0"/>
          </a:p>
        </p:txBody>
      </p:sp>
      <p:sp>
        <p:nvSpPr>
          <p:cNvPr id="20" name="Text 0"/>
          <p:cNvSpPr/>
          <p:nvPr>
            <p:ph idx="106" type="body" hasCustomPrompt="1"/>
          </p:nvPr>
        </p:nvSpPr>
        <p:spPr>
          <a:xfrm>
            <a:off x="850392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Eines der großen Feste im Hinduismus. Es dauert zehn Tage, die ersten Tage feiern die Gläubigen in Gemeinschaft.</a:t>
            </a:r>
            <a:endParaRPr lang="en-US" sz="1600" dirty="0"/>
          </a:p>
        </p:txBody>
      </p:sp>
      <p:sp>
        <p:nvSpPr>
          <p:cNvPr id="21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Quellen: bpb – Ramadan; bpb – Gemeinsam (religiöse) Feste feiern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Fasten"/>
          <p:cNvSpPr/>
          <p:nvPr/>
        </p:nvSpPr>
        <p:spPr>
          <a:xfrm>
            <a:off x="548640" y="1600200"/>
            <a:ext cx="3246120" cy="4526280"/>
          </a:xfrm>
          <a:prstGeom prst="roundRect">
            <a:avLst>
              <a:gd name="adj" fmla="val 6197"/>
            </a:avLst>
          </a:prstGeom>
          <a:solidFill>
            <a:schemeClr val="tx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Kugel Symbol 108"/>
          <p:cNvSpPr/>
          <p:nvPr/>
        </p:nvSpPr>
        <p:spPr>
          <a:xfrm>
            <a:off x="868680" y="1965960"/>
            <a:ext cx="1005840" cy="100584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4" name="Symbol 10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082" y="2207362"/>
            <a:ext cx="523037" cy="52303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3154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Fasten</a:t>
            </a:r>
            <a:endParaRPr lang="en-US" sz="2400" dirty="0"/>
          </a:p>
        </p:txBody>
      </p:sp>
      <p:sp>
        <p:nvSpPr>
          <p:cNvPr id="6" name="3D-Kugel Plus 1"/>
          <p:cNvSpPr/>
          <p:nvPr/>
        </p:nvSpPr>
        <p:spPr>
          <a:xfrm>
            <a:off x="3895344" y="3634740"/>
            <a:ext cx="457200" cy="4572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228600" h="137160" prst="circle"/>
          </a:sp3d>
        </p:spPr>
      </p:sp>
      <p:sp>
        <p:nvSpPr>
          <p:cNvPr id="7" name="Text 4"/>
          <p:cNvSpPr txBox="1"/>
          <p:nvPr/>
        </p:nvSpPr>
        <p:spPr>
          <a:xfrm>
            <a:off x="3895344" y="36347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+</a:t>
            </a:r>
            <a:endParaRPr lang="en-US" sz="2200" dirty="0"/>
          </a:p>
        </p:txBody>
      </p:sp>
      <p:sp>
        <p:nvSpPr>
          <p:cNvPr id="8" name="3D-Karte Gemeinschaft"/>
          <p:cNvSpPr/>
          <p:nvPr/>
        </p:nvSpPr>
        <p:spPr>
          <a:xfrm>
            <a:off x="4457700" y="1600200"/>
            <a:ext cx="3246120" cy="4526280"/>
          </a:xfrm>
          <a:prstGeom prst="roundRect">
            <a:avLst>
              <a:gd name="adj" fmla="val 6197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9" name="3D-Kugel Symbol 109"/>
          <p:cNvSpPr/>
          <p:nvPr/>
        </p:nvSpPr>
        <p:spPr>
          <a:xfrm>
            <a:off x="4777740" y="1965960"/>
            <a:ext cx="1005840" cy="100584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10" name="Symbol 10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9142" y="2207362"/>
            <a:ext cx="523037" cy="52303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77740" y="3154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Gemeinschaft</a:t>
            </a:r>
            <a:endParaRPr lang="en-US" sz="2400" dirty="0"/>
          </a:p>
        </p:txBody>
      </p:sp>
      <p:sp>
        <p:nvSpPr>
          <p:cNvPr id="12" name="3D-Kugel Plus 2"/>
          <p:cNvSpPr/>
          <p:nvPr/>
        </p:nvSpPr>
        <p:spPr>
          <a:xfrm>
            <a:off x="7804404" y="3634740"/>
            <a:ext cx="457200" cy="4572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228600" h="137160" prst="circle"/>
          </a:sp3d>
        </p:spPr>
      </p:sp>
      <p:sp>
        <p:nvSpPr>
          <p:cNvPr id="13" name="Text 9"/>
          <p:cNvSpPr txBox="1"/>
          <p:nvPr/>
        </p:nvSpPr>
        <p:spPr>
          <a:xfrm>
            <a:off x="7804404" y="36347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+</a:t>
            </a:r>
            <a:endParaRPr lang="en-US" sz="2200" dirty="0"/>
          </a:p>
        </p:txBody>
      </p:sp>
      <p:sp>
        <p:nvSpPr>
          <p:cNvPr id="14" name="3D-Karte Neuanfang"/>
          <p:cNvSpPr/>
          <p:nvPr/>
        </p:nvSpPr>
        <p:spPr>
          <a:xfrm>
            <a:off x="8366760" y="1600200"/>
            <a:ext cx="3246120" cy="4526280"/>
          </a:xfrm>
          <a:prstGeom prst="roundRect">
            <a:avLst>
              <a:gd name="adj" fmla="val 6197"/>
            </a:avLst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15" name="3D-Kugel Symbol 110"/>
          <p:cNvSpPr/>
          <p:nvPr/>
        </p:nvSpPr>
        <p:spPr>
          <a:xfrm>
            <a:off x="8686800" y="1965960"/>
            <a:ext cx="1005840" cy="1005840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16" name="Symbol 11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8202" y="2207362"/>
            <a:ext cx="523037" cy="52303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686800" y="3154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Neuanfang</a:t>
            </a:r>
            <a:endParaRPr lang="en-US" sz="240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Was verbindet die Feste?</a:t>
            </a:r>
            <a:endParaRPr lang="en-US" sz="36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868680" y="3840480"/>
            <a:ext cx="2606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Fastenzeit und Ramadan: bewusster Verzicht als Vorbereitung auf ein großes Fest.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4777740" y="3840480"/>
            <a:ext cx="2606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Ostern, das Fest des Fastenbrechens und Durga Puja feiert man gemeinsam mit Familie und Gemeinde.</a:t>
            </a:r>
            <a:endParaRPr lang="en-US" sz="1600" dirty="0"/>
          </a:p>
        </p:txBody>
      </p:sp>
      <p:sp>
        <p:nvSpPr>
          <p:cNvPr id="21" name="Text 0"/>
          <p:cNvSpPr/>
          <p:nvPr>
            <p:ph idx="103" type="body" hasCustomPrompt="1"/>
          </p:nvPr>
        </p:nvSpPr>
        <p:spPr>
          <a:xfrm>
            <a:off x="8686800" y="3840480"/>
            <a:ext cx="2606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Ostern steht für neues Leben, Jom Kippur für Umkehr und einen neuen Anfang.</a:t>
            </a:r>
            <a:endParaRPr lang="en-US" sz="1600" dirty="0"/>
          </a:p>
        </p:txBody>
      </p:sp>
      <p:sp>
        <p:nvSpPr>
          <p:cNvPr id="22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Quellen: ZDFheute; bpb – Ramadan; bpb – Gemeinsam (religiöse) Feste feiern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Antwort an den Kunden"/>
          <p:cNvSpPr/>
          <p:nvPr/>
        </p:nvSpPr>
        <p:spPr>
          <a:xfrm>
            <a:off x="548640" y="1554480"/>
            <a:ext cx="5440680" cy="3749040"/>
          </a:xfrm>
          <a:prstGeom prst="roundRect">
            <a:avLst>
              <a:gd name="adj" fmla="val 536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95580" dist="83820" dir="5400000">
              <a:srgbClr val="1A1033">
                <a:alpha val="242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Kugel Symbol 111"/>
          <p:cNvSpPr/>
          <p:nvPr/>
        </p:nvSpPr>
        <p:spPr>
          <a:xfrm>
            <a:off x="914400" y="1783080"/>
            <a:ext cx="731520" cy="731520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65760" h="219456" prst="circle"/>
          </a:sp3d>
        </p:spPr>
      </p:sp>
      <p:pic>
        <p:nvPicPr>
          <p:cNvPr id="4" name="Symbol 11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965" y="1958645"/>
            <a:ext cx="380390" cy="38039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28800" y="18288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Antwort an den Kunden</a:t>
            </a:r>
            <a:endParaRPr lang="en-US" sz="2400" dirty="0"/>
          </a:p>
        </p:txBody>
      </p:sp>
      <p:sp>
        <p:nvSpPr>
          <p:cNvPr id="6" name="3D-Karte Mein Ausbildungsbetrieb"/>
          <p:cNvSpPr/>
          <p:nvPr/>
        </p:nvSpPr>
        <p:spPr>
          <a:xfrm>
            <a:off x="6172200" y="1554480"/>
            <a:ext cx="5440680" cy="3749040"/>
          </a:xfrm>
          <a:prstGeom prst="roundRect">
            <a:avLst>
              <a:gd name="adj" fmla="val 536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95580" dist="83820" dir="5400000">
              <a:srgbClr val="1A1033">
                <a:alpha val="242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7" name="3D-Kugel Symbol 112"/>
          <p:cNvSpPr/>
          <p:nvPr/>
        </p:nvSpPr>
        <p:spPr>
          <a:xfrm>
            <a:off x="6537960" y="1783080"/>
            <a:ext cx="731520" cy="731520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65760" h="219456" prst="circle"/>
          </a:sp3d>
        </p:spPr>
      </p:sp>
      <p:pic>
        <p:nvPicPr>
          <p:cNvPr id="8" name="Symbol 11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3525" y="1958645"/>
            <a:ext cx="380390" cy="38039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452360" y="18288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Mein Ausbildungsbetrieb</a:t>
            </a:r>
            <a:endParaRPr lang="en-US" sz="2400" dirty="0"/>
          </a:p>
        </p:txBody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Im Arbeitsalltag</a:t>
            </a:r>
            <a:endParaRPr lang="en-US" sz="36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914400" y="2697480"/>
            <a:ext cx="4709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endParaRPr lang="en-US" sz="1700" dirty="0"/>
          </a:p>
        </p:txBody>
      </p:sp>
      <p:sp>
        <p:nvSpPr>
          <p:cNvPr id="12" name="Text 0"/>
          <p:cNvSpPr/>
          <p:nvPr>
            <p:ph idx="102" type="body" hasCustomPrompt="1"/>
          </p:nvPr>
        </p:nvSpPr>
        <p:spPr>
          <a:xfrm>
            <a:off x="6537960" y="2697480"/>
            <a:ext cx="4709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Karnevalsware ab: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…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Osterware ab: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…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Aktionen: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…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Feiertage, Öffnungszeiten &amp; Dienstplan: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…</a:t>
            </a:r>
            <a:endParaRPr lang="en-US" sz="1700" dirty="0"/>
          </a:p>
        </p:txBody>
      </p:sp>
      <p:sp>
        <p:nvSpPr>
          <p:cNvPr id="13" name="Text 0"/>
          <p:cNvSpPr/>
          <p:nvPr>
            <p:ph idx="103" type="body" hasCustomPrompt="1"/>
          </p:nvPr>
        </p:nvSpPr>
        <p:spPr>
          <a:xfrm>
            <a:off x="548640" y="55321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Glühbirne"/>
          <p:cNvSpPr/>
          <p:nvPr/>
        </p:nvSpPr>
        <p:spPr>
          <a:xfrm>
            <a:off x="5550408" y="594360"/>
            <a:ext cx="1097280" cy="109728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48640" h="329184" prst="circle"/>
          </a:sp3d>
        </p:spPr>
      </p:sp>
      <p:pic>
        <p:nvPicPr>
          <p:cNvPr id="3" name="Glühbir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804672"/>
            <a:ext cx="676656" cy="676656"/>
          </a:xfrm>
          <a:prstGeom prst="rect">
            <a:avLst/>
          </a:prstGeom>
        </p:spPr>
      </p:pic>
      <p:sp>
        <p:nvSpPr>
          <p:cNvPr id="4" name="3D-Kugel 113"/>
          <p:cNvSpPr/>
          <p:nvPr/>
        </p:nvSpPr>
        <p:spPr>
          <a:xfrm>
            <a:off x="5108842" y="5996980"/>
            <a:ext cx="121524" cy="12152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0762" h="36457" prst="circle"/>
          </a:sp3d>
        </p:spPr>
      </p:sp>
      <p:sp>
        <p:nvSpPr>
          <p:cNvPr id="5" name="3D-Kugel 114"/>
          <p:cNvSpPr/>
          <p:nvPr/>
        </p:nvSpPr>
        <p:spPr>
          <a:xfrm>
            <a:off x="5652357" y="5590207"/>
            <a:ext cx="90249" cy="90249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45125" h="27075" prst="circle"/>
          </a:sp3d>
        </p:spPr>
      </p:sp>
      <p:sp>
        <p:nvSpPr>
          <p:cNvPr id="6" name="3D-Kugel 115"/>
          <p:cNvSpPr/>
          <p:nvPr/>
        </p:nvSpPr>
        <p:spPr>
          <a:xfrm>
            <a:off x="8010963" y="5502410"/>
            <a:ext cx="98345" cy="98345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49173" h="29504" prst="circle"/>
          </a:sp3d>
        </p:spPr>
      </p:sp>
      <p:sp>
        <p:nvSpPr>
          <p:cNvPr id="7" name="3D-Kugel 116"/>
          <p:cNvSpPr/>
          <p:nvPr/>
        </p:nvSpPr>
        <p:spPr>
          <a:xfrm>
            <a:off x="5709992" y="6001995"/>
            <a:ext cx="81803" cy="8180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40902" h="24541" prst="circle"/>
          </a:sp3d>
        </p:spPr>
      </p:sp>
      <p:sp>
        <p:nvSpPr>
          <p:cNvPr id="8" name="3D-Kugel 117"/>
          <p:cNvSpPr/>
          <p:nvPr/>
        </p:nvSpPr>
        <p:spPr>
          <a:xfrm>
            <a:off x="3370781" y="5645571"/>
            <a:ext cx="86342" cy="86342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43171" h="25903" prst="circle"/>
          </a:sp3d>
        </p:spPr>
      </p:sp>
      <p:sp>
        <p:nvSpPr>
          <p:cNvPr id="9" name="3D-Kugel 118"/>
          <p:cNvSpPr/>
          <p:nvPr/>
        </p:nvSpPr>
        <p:spPr>
          <a:xfrm>
            <a:off x="5624950" y="5745893"/>
            <a:ext cx="157684" cy="157684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78842" h="47305" prst="circle"/>
          </a:sp3d>
        </p:spPr>
      </p:sp>
      <p:sp>
        <p:nvSpPr>
          <p:cNvPr id="10" name="3D-Kugel 119"/>
          <p:cNvSpPr/>
          <p:nvPr/>
        </p:nvSpPr>
        <p:spPr>
          <a:xfrm>
            <a:off x="6041699" y="5533869"/>
            <a:ext cx="122091" cy="122091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1046" h="36627" prst="circle"/>
          </a:sp3d>
        </p:spPr>
      </p:sp>
      <p:sp>
        <p:nvSpPr>
          <p:cNvPr id="11" name="3D-Kugel 120"/>
          <p:cNvSpPr/>
          <p:nvPr/>
        </p:nvSpPr>
        <p:spPr>
          <a:xfrm>
            <a:off x="9187216" y="5670883"/>
            <a:ext cx="135013" cy="135013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67507" h="40504" prst="circle"/>
          </a:sp3d>
        </p:spPr>
      </p:sp>
      <p:sp>
        <p:nvSpPr>
          <p:cNvPr id="12" name="3D-Kugel 121"/>
          <p:cNvSpPr/>
          <p:nvPr/>
        </p:nvSpPr>
        <p:spPr>
          <a:xfrm>
            <a:off x="8611348" y="5880056"/>
            <a:ext cx="132440" cy="132440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66220" h="39732" prst="circle"/>
          </a:sp3d>
        </p:spPr>
      </p:sp>
      <p:sp>
        <p:nvSpPr>
          <p:cNvPr id="13" name="3D-Kugel 122"/>
          <p:cNvSpPr/>
          <p:nvPr/>
        </p:nvSpPr>
        <p:spPr>
          <a:xfrm>
            <a:off x="8912863" y="5841063"/>
            <a:ext cx="160094" cy="16009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0047" h="48028" prst="circle"/>
          </a:sp3d>
        </p:spPr>
      </p:sp>
      <p:sp>
        <p:nvSpPr>
          <p:cNvPr id="14" name="3D-Kugel 123"/>
          <p:cNvSpPr/>
          <p:nvPr/>
        </p:nvSpPr>
        <p:spPr>
          <a:xfrm>
            <a:off x="3667263" y="5813190"/>
            <a:ext cx="153965" cy="153965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76983" h="46190" prst="circle"/>
          </a:sp3d>
        </p:spPr>
      </p:sp>
      <p:sp>
        <p:nvSpPr>
          <p:cNvPr id="15" name="3D-Kugel 124"/>
          <p:cNvSpPr/>
          <p:nvPr/>
        </p:nvSpPr>
        <p:spPr>
          <a:xfrm>
            <a:off x="8555791" y="5962943"/>
            <a:ext cx="159775" cy="159775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79888" h="47933" prst="circle"/>
          </a:sp3d>
        </p:spPr>
      </p:sp>
      <p:sp>
        <p:nvSpPr>
          <p:cNvPr id="16" name="3D-Kugel 125"/>
          <p:cNvSpPr/>
          <p:nvPr/>
        </p:nvSpPr>
        <p:spPr>
          <a:xfrm>
            <a:off x="6052018" y="5547128"/>
            <a:ext cx="113514" cy="11351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56757" h="34054" prst="circle"/>
          </a:sp3d>
        </p:spPr>
      </p:sp>
      <p:sp>
        <p:nvSpPr>
          <p:cNvPr id="17" name="3D-Kugel 126"/>
          <p:cNvSpPr/>
          <p:nvPr/>
        </p:nvSpPr>
        <p:spPr>
          <a:xfrm>
            <a:off x="704009" y="5701594"/>
            <a:ext cx="170632" cy="170632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85316" h="51190" prst="circle"/>
          </a:sp3d>
        </p:spPr>
      </p:sp>
      <p:sp>
        <p:nvSpPr>
          <p:cNvPr id="18" name="Text 0"/>
          <p:cNvSpPr/>
          <p:nvPr>
            <p:ph idx="100" type="body" hasCustomPrompt="1"/>
          </p:nvPr>
        </p:nvSpPr>
        <p:spPr>
          <a:xfrm>
            <a:off x="1280160" y="1920240"/>
            <a:ext cx="9601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i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Inwiefern erleben wir kulturelle Bräuche, Traditionen und wirtschaftliche Interessen in unserem Arbeitsumfeld?</a:t>
            </a:r>
            <a:endParaRPr lang="en-US" sz="30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1280160" y="425196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Symbol 127"/>
          <p:cNvSpPr/>
          <p:nvPr/>
        </p:nvSpPr>
        <p:spPr>
          <a:xfrm>
            <a:off x="548640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pic>
        <p:nvPicPr>
          <p:cNvPr id="3" name="Symbol 12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764792"/>
            <a:ext cx="356616" cy="356616"/>
          </a:xfrm>
          <a:prstGeom prst="rect">
            <a:avLst/>
          </a:prstGeom>
        </p:spPr>
      </p:pic>
      <p:sp>
        <p:nvSpPr>
          <p:cNvPr id="4" name="Quelle 1"/>
          <p:cNvSpPr txBox="1"/>
          <p:nvPr/>
        </p:nvSpPr>
        <p:spPr>
          <a:xfrm>
            <a:off x="1463040" y="155448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Erzbistum Köln: Karneval – Ursprung, Bedeutung und Brauchtum</a:t>
            </a:r>
            <a:endParaRPr lang="en-US" sz="1700" dirty="0"/>
          </a:p>
          <a:p>
            <a:pPr indent="0" marL="0">
              <a:buNone/>
            </a:pPr>
            <a:r>
              <a:rPr lang="en-US" sz="1200" u="sng" dirty="0">
                <a:solidFill>
                  <a:schemeClr val="accent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https://www.erzbistum-koeln.de/presse_und_medien/magazin/Karneval-Ursprung-Bedeutung-und-Brauchtum-des-Karnevals/</a:t>
            </a:r>
            <a:endParaRPr lang="en-US" sz="1700" dirty="0"/>
          </a:p>
        </p:txBody>
      </p:sp>
      <p:sp>
        <p:nvSpPr>
          <p:cNvPr id="5" name="3D-Kugel Symbol 128"/>
          <p:cNvSpPr/>
          <p:nvPr/>
        </p:nvSpPr>
        <p:spPr>
          <a:xfrm>
            <a:off x="548640" y="2697480"/>
            <a:ext cx="685800" cy="6858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pic>
        <p:nvPicPr>
          <p:cNvPr id="6" name="Symbol 12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862072"/>
            <a:ext cx="356616" cy="356616"/>
          </a:xfrm>
          <a:prstGeom prst="rect">
            <a:avLst/>
          </a:prstGeom>
        </p:spPr>
      </p:pic>
      <p:sp>
        <p:nvSpPr>
          <p:cNvPr id="7" name="Quelle 2"/>
          <p:cNvSpPr txBox="1"/>
          <p:nvPr/>
        </p:nvSpPr>
        <p:spPr>
          <a:xfrm>
            <a:off x="1463040" y="265176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ZDFheute: „Mit Palmsonntag beginnt die Karwoche“</a:t>
            </a:r>
            <a:endParaRPr lang="en-US" sz="1700" dirty="0"/>
          </a:p>
          <a:p>
            <a:pPr indent="0" marL="0">
              <a:buNone/>
            </a:pPr>
            <a:r>
              <a:rPr lang="en-US" sz="1200" u="sng" dirty="0">
                <a:solidFill>
                  <a:schemeClr val="accent4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https://www.zdfheute.de/wissen/ostern-feiertage-karfreitag-karwoche-palmsonntag-100.html</a:t>
            </a:r>
            <a:endParaRPr lang="en-US" sz="1700" dirty="0"/>
          </a:p>
        </p:txBody>
      </p:sp>
      <p:sp>
        <p:nvSpPr>
          <p:cNvPr id="8" name="3D-Kugel Symbol 129"/>
          <p:cNvSpPr/>
          <p:nvPr/>
        </p:nvSpPr>
        <p:spPr>
          <a:xfrm>
            <a:off x="548640" y="3794760"/>
            <a:ext cx="685800" cy="685800"/>
          </a:xfrm>
          <a:prstGeom prst="ellipse">
            <a:avLst/>
          </a:prstGeom>
          <a:solidFill>
            <a:schemeClr val="accent3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pic>
        <p:nvPicPr>
          <p:cNvPr id="9" name="Symbol 129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3959352"/>
            <a:ext cx="356616" cy="356616"/>
          </a:xfrm>
          <a:prstGeom prst="rect">
            <a:avLst/>
          </a:prstGeom>
        </p:spPr>
      </p:pic>
      <p:sp>
        <p:nvSpPr>
          <p:cNvPr id="10" name="Quelle 3"/>
          <p:cNvSpPr txBox="1"/>
          <p:nvPr/>
        </p:nvSpPr>
        <p:spPr>
          <a:xfrm>
            <a:off x="1463040" y="374904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bpb: Ramadan (Deine tägliche Dosis Politik)</a:t>
            </a:r>
            <a:endParaRPr lang="en-US" sz="1700" dirty="0"/>
          </a:p>
          <a:p>
            <a:pPr indent="0" marL="0">
              <a:buNone/>
            </a:pPr>
            <a:r>
              <a:rPr lang="en-US" sz="1200" u="sng" dirty="0">
                <a:solidFill>
                  <a:schemeClr val="accent4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https://www.bpb.de/kurz-knapp/taegliche-dosis-politik/559978/ramadan/</a:t>
            </a:r>
            <a:endParaRPr lang="en-US" sz="1700" dirty="0"/>
          </a:p>
        </p:txBody>
      </p:sp>
      <p:sp>
        <p:nvSpPr>
          <p:cNvPr id="11" name="3D-Kugel Symbol 130"/>
          <p:cNvSpPr/>
          <p:nvPr/>
        </p:nvSpPr>
        <p:spPr>
          <a:xfrm>
            <a:off x="548640" y="4892040"/>
            <a:ext cx="685800" cy="685800"/>
          </a:xfrm>
          <a:prstGeom prst="ellipse">
            <a:avLst/>
          </a:prstGeom>
          <a:solidFill>
            <a:schemeClr val="accent4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pic>
        <p:nvPicPr>
          <p:cNvPr id="12" name="Symbol 13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5056632"/>
            <a:ext cx="356616" cy="356616"/>
          </a:xfrm>
          <a:prstGeom prst="rect">
            <a:avLst/>
          </a:prstGeom>
        </p:spPr>
      </p:pic>
      <p:sp>
        <p:nvSpPr>
          <p:cNvPr id="13" name="Quelle 4"/>
          <p:cNvSpPr txBox="1"/>
          <p:nvPr/>
        </p:nvSpPr>
        <p:spPr>
          <a:xfrm>
            <a:off x="1463040" y="484632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bpb: M 06.06 Gemeinsam (religiöse) Feste feiern</a:t>
            </a:r>
            <a:endParaRPr lang="en-US" sz="1700" dirty="0"/>
          </a:p>
          <a:p>
            <a:pPr indent="0" marL="0">
              <a:buNone/>
            </a:pPr>
            <a:r>
              <a:rPr lang="en-US" sz="1200" u="sng" dirty="0">
                <a:solidFill>
                  <a:schemeClr val="accent4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https://www.bpb.de/lernen/angebote/grafstat/projekt-integration/134726/m-06-06-gemeinsam-religioese-feste-feiern/</a:t>
            </a:r>
            <a:endParaRPr lang="en-US" sz="1700" dirty="0"/>
          </a:p>
        </p:txBody>
      </p:sp>
      <p:sp>
        <p:nvSpPr>
          <p:cNvPr id="14" name="Bildquelle"/>
          <p:cNvSpPr txBox="1"/>
          <p:nvPr/>
        </p:nvSpPr>
        <p:spPr>
          <a:xfrm>
            <a:off x="1463040" y="598932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Bildquellen: Karneval- und Osterfotos (Folien 1, 3, 4, 8, 9, 11, 18) – bitte ergänzen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Quellen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lasfläche"/>
          <p:cNvSpPr/>
          <p:nvPr/>
        </p:nvSpPr>
        <p:spPr>
          <a:xfrm>
            <a:off x="1828800" y="1828800"/>
            <a:ext cx="8531352" cy="2926080"/>
          </a:xfrm>
          <a:prstGeom prst="roundRect">
            <a:avLst>
              <a:gd name="adj" fmla="val 9375"/>
            </a:avLst>
          </a:prstGeom>
          <a:solidFill>
            <a:schemeClr val="tx1">
              <a:alpha val="72000"/>
            </a:schemeClr>
          </a:solidFill>
          <a:ln w="15875">
            <a:solidFill>
              <a:schemeClr val="bg1">
                <a:alpha val="45000"/>
              </a:schemeClr>
            </a:solidFill>
            <a:prstDash val="solid"/>
          </a:ln>
          <a:effectLst>
            <a:outerShdw sx="100000" sy="100000" kx="0" ky="0" algn="bl" rotWithShape="0" blurRad="355600" dist="152400" dir="5400000">
              <a:srgbClr val="1A1033">
                <a:alpha val="44000"/>
              </a:srgbClr>
            </a:outerShdw>
          </a:effectLst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Danke fürs Zuhören!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2103120" y="356616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Fragen?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rneval und Ostern">
  <a:themeElements>
    <a:clrScheme name="Karneval und Ostern">
      <a:dk1>
        <a:srgbClr val="1A1033"/>
      </a:dk1>
      <a:lt1>
        <a:srgbClr val="FFFFFF"/>
      </a:lt1>
      <a:dk2>
        <a:srgbClr val="6A3FB5"/>
      </a:dk2>
      <a:lt2>
        <a:srgbClr val="F4F0FF"/>
      </a:lt2>
      <a:accent1>
        <a:srgbClr val="FF2E63"/>
      </a:accent1>
      <a:accent2>
        <a:srgbClr val="FFB703"/>
      </a:accent2>
      <a:accent3>
        <a:srgbClr val="0FB5A6"/>
      </a:accent3>
      <a:accent4>
        <a:srgbClr val="3A6FF7"/>
      </a:accent4>
      <a:accent5>
        <a:srgbClr val="9BE3B0"/>
      </a:accent5>
      <a:accent6>
        <a:srgbClr val="FFB3D1"/>
      </a:accent6>
      <a:hlink>
        <a:srgbClr val="3A6FF7"/>
      </a:hlink>
      <a:folHlink>
        <a:srgbClr val="6A3FB5"/>
      </a:folHlink>
    </a:clrScheme>
    <a:fontScheme name="Karneval und Ostern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Karneval &amp; Ostern</dc:title>
  <dc:subject>Religion: Feste im Kirchenjahr</dc:subject>
  <dc:creator>PptxGenJS</dc:creator>
  <cp:lastModifiedBy>PptxGenJS</cp:lastModifiedBy>
  <cp:revision>1</cp:revision>
  <dcterms:created xsi:type="dcterms:W3CDTF">2026-10-12T08:12:14Z</dcterms:created>
  <dcterms:modified xsi:type="dcterms:W3CDTF">2026-10-12T08:12:14Z</dcterms:modified>
</cp:coreProperties>
</file>