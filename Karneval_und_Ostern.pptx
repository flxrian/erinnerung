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c727b1dd-c3bf-08ce-3486-613778842c6f}">
          <p14:sldIdLst>
            <p14:sldId id="256"/>
            <p14:sldId id="257"/>
          </p14:sldIdLst>
        </p14:section>
        <p14:section name="Karneval" id="{77e6cbdb-c071-f80f-c90f-a0f8b5bfb2fd}">
          <p14:sldIdLst>
            <p14:sldId id="258"/>
            <p14:sldId id="259"/>
            <p14:sldId id="260"/>
            <p14:sldId id="261"/>
          </p14:sldIdLst>
        </p14:section>
        <p14:section name="Fastenzeit" id="{8d88e452-9469-2169-74b2-cc0324e2e26c}">
          <p14:sldIdLst>
            <p14:sldId id="262"/>
            <p14:sldId id="263"/>
          </p14:sldIdLst>
        </p14:section>
        <p14:section name="Ostern" id="{b77610db-ba45-ebf7-ad44-10816eefb4db}">
          <p14:sldIdLst>
            <p14:sldId id="264"/>
            <p14:sldId id="265"/>
            <p14:sldId id="266"/>
            <p14:sldId id="267"/>
          </p14:sldIdLst>
        </p14:section>
        <p14:section name="Andere Religionen" id="{65753a96-264d-b8db-7cf3-716d794cefd0}">
          <p14:sldIdLst>
            <p14:sldId id="268"/>
            <p14:sldId id="269"/>
            <p14:sldId id="270"/>
            <p14:sldId id="271"/>
          </p14:sldIdLst>
        </p14:section>
        <p14:section name="Abschluss" id="{a5811b28-9a53-f686-1cc2-10c0b75747e5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Von Aschermittwoch bis Ostersonntag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Ostern, Osterei &amp; Osterhase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 &amp; Arbeitsalltag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„Die Nacht vor dem Fasten“ – eigentlich der Dienstag vor Aschermittwoch.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GESCHICHTE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1341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EIDBUCH DER STADT KÖLN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„Fastelovend“, das kölsche Wort für Fastnacht, wird hier zum ersten Mal schriftlich erwähnt.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1823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FESTORDNENDES COMITEE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In Köln gründet sich das Komitee. Der „Held Carneval“ steht an der Spitze – daraus wird später der Prinz.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Weiberfastnacht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BEUELER WÄSCHERINNEN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Vor über 180 Jahren wehrten sich Wäscherinnen in Beuel gegen ihre harte Arbeit. Heute stürmen Frauen das Rathaus.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Rosenmontag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VOM „ROSENSONNTAG“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Am Rosensonntag verlieh der Papst eine goldene Rose. Das Komitee tagte am Montag danach – daher der Name.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in Köln – ein Blick zurück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Der Weg von Aschermittwoch bis Ostersonntag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82296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1000" kern="0" dirty="0">
                <a:solidFill>
                  <a:schemeClr val="accent5"/>
                </a:solidFill>
              </a:rPr>
              <a:t>TAGE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Aschermittwoch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&amp;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Karwoche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 PALMSONNTAG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Jesus zieht auf einem Esel in Jerusalem ein und wird bejubelt. „Kar“ heißt Klage oder Trauer: Christen denken an sein Leiden.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Gründonnerstag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&amp; KARFREITAG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Gründonnerstag: letztes Abendmahl mit den Jüngern. Karfreitag: Kreuzigung und Tod Jesu – Gottesdienste um 15 Uhr.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Ostersonntag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Christen feiern, dass Jesus von den Toten auferstanden ist. Das höchste Fest im Christentum.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828800"/>
            <a:ext cx="53949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DAS WICHTIGSTE FEST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Ostern ist das älteste und höchste Fest der Christen.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AUFERSTEHUNG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Jesus starb am Kreuz – Christen glauben, dass er von den Toten auferstanden ist.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HOFFNUNG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Der Tod hat nicht das letzte Wort. Ostern steht für neues Leben.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BEWEGLICHER FEIERTAG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Immer der Sonntag nach dem ersten Vollmond im Frühling.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KARWOCHE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EINZUG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ein. Die Menschen jubeln ihm zu.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ABENDMAHL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Letztes Abendmahl mit den Jüngern. „Grün“ kommt wohl von einem alten Wort für Weinen.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Leiden und Tod Jesu am Kreuz. Strenger Fast- und Bußtag.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Karsamstag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GRABESRUHE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Christen denken an die Grablegung Jesu.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ist auferstanden – der Höhepunkt des Kirchenjahres.</a:t>
            </a:r>
            <a:endParaRPr lang="en-US" sz="135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Karwoche im Detail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2377440" cy="237744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80467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33756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Das Ei ist ein Zeichen für Leben.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Für Christen steht es für die Auferstehung Jesu.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Religiöser Ursprung – heute auch ein Volksbrauch.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20"/>
            <a:ext cx="2377440" cy="237744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42823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96112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Kommt in der Ostergeschichte der Bibel nicht vor (eigene Einschätzung).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Wird in den angegebenen Quellen nicht erklärt.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Eher ein kultureller Brauch.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874520"/>
            <a:ext cx="0" cy="31089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Das Osterei hat eine christliche Bedeutung – der Osterhase ist eher ein kultureller Brauch.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04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VERGLEICH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CHRISTENTUM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Fastenzeit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08660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Ramadan</a:t>
            </a:r>
            <a:endParaRPr lang="en-US" sz="1000" dirty="0"/>
          </a:p>
        </p:txBody>
      </p:sp>
      <p:sp>
        <p:nvSpPr>
          <p:cNvPr id="5" name="Linie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DAUER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916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40 Tage von Aschermittwoch bis Ostern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91693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Ein Monat – er beginnt, wenn abends die Mondsichel sichtbar ist</a:t>
            </a:r>
            <a:endParaRPr lang="en-US" sz="1450" dirty="0"/>
          </a:p>
        </p:txBody>
      </p:sp>
      <p:sp>
        <p:nvSpPr>
          <p:cNvPr id="9" name="Linie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22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VERZICHT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7856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Früher vor allem auf Fleisch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78561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Tagsüber kein Essen und Trinken; Kranke, Kinder und Reisende sind befreit</a:t>
            </a:r>
            <a:endParaRPr lang="en-US" sz="1450" dirty="0"/>
          </a:p>
        </p:txBody>
      </p:sp>
      <p:sp>
        <p:nvSpPr>
          <p:cNvPr id="13" name="Linie"/>
          <p:cNvSpPr/>
          <p:nvPr/>
        </p:nvSpPr>
        <p:spPr>
          <a:xfrm>
            <a:off x="640080" y="452628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ENDE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6542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Ostern, das höchste Fest der Christen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65429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Fest des Fastenbrechens, vorher eine Spende an Arme (Zakat-ul-fitr)</a:t>
            </a:r>
            <a:endParaRPr lang="en-US" sz="1450" dirty="0"/>
          </a:p>
        </p:txBody>
      </p:sp>
      <p:sp>
        <p:nvSpPr>
          <p:cNvPr id="17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VS"/>
          <p:cNvSpPr/>
          <p:nvPr/>
        </p:nvSpPr>
        <p:spPr>
          <a:xfrm>
            <a:off x="653796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GEMEINSAM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Verzicht als Vorbereitung – und am Ende ein großes Fest in Gemeinschaft.</a:t>
            </a:r>
            <a:endParaRPr lang="en-US" sz="11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 und Ramadan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AUFGABEN 6 &amp; 7</a:t>
            </a:r>
            <a:endParaRPr lang="en-US" sz="1100" dirty="0"/>
          </a:p>
        </p:txBody>
      </p:sp>
      <p:sp>
        <p:nvSpPr>
          <p:cNvPr id="3" name="Feld Antwort an den Kunden"/>
          <p:cNvSpPr/>
          <p:nvPr/>
        </p:nvSpPr>
        <p:spPr>
          <a:xfrm>
            <a:off x="640080" y="1691640"/>
            <a:ext cx="53492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6" name="Feld Mein Ausbildungsbetrieb"/>
          <p:cNvSpPr/>
          <p:nvPr/>
        </p:nvSpPr>
        <p:spPr>
          <a:xfrm>
            <a:off x="6172200" y="1691640"/>
            <a:ext cx="53492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03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Mein Ausbildungsbetrieb</a:t>
            </a:r>
            <a:endParaRPr lang="en-US" sz="1900" dirty="0"/>
          </a:p>
        </p:txBody>
      </p:sp>
      <p:sp>
        <p:nvSpPr>
          <p:cNvPr id="9" name="Plus"/>
          <p:cNvSpPr/>
          <p:nvPr/>
        </p:nvSpPr>
        <p:spPr>
          <a:xfrm>
            <a:off x="11311128" y="16916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0" name="Plus"/>
          <p:cNvSpPr/>
          <p:nvPr/>
        </p:nvSpPr>
        <p:spPr>
          <a:xfrm>
            <a:off x="11475720" y="15270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Karnevalsware ab: …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Osterware ab: …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Aktionen: …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Feiertage, Öffnungszeiten &amp; Dienstplan: …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3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2026-10-14T19:56:25Z</dcterms:created>
  <dcterms:modified xsi:type="dcterms:W3CDTF">2026-10-14T19:56:25Z</dcterms:modified>
</cp:coreProperties>
</file>