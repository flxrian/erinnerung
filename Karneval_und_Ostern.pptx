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657fe0b1-8f26-60b8-e631-040d9267ffd6}">
          <p14:sldIdLst>
            <p14:sldId id="256"/>
            <p14:sldId id="257"/>
          </p14:sldIdLst>
        </p14:section>
        <p14:section name="Karneval" id="{6b9e1605-cc48-29fa-9955-3605fbd90c5e}">
          <p14:sldIdLst>
            <p14:sldId id="258"/>
            <p14:sldId id="259"/>
            <p14:sldId id="260"/>
            <p14:sldId id="261"/>
          </p14:sldIdLst>
        </p14:section>
        <p14:section name="Fastenzeit" id="{c42f685e-d63e-e7f2-d9d5-e5630a1bc6d7}">
          <p14:sldIdLst>
            <p14:sldId id="262"/>
            <p14:sldId id="263"/>
          </p14:sldIdLst>
        </p14:section>
        <p14:section name="Ostern" id="{bb653276-22de-367c-6534-de9fbb9c5d91}">
          <p14:sldIdLst>
            <p14:sldId id="264"/>
            <p14:sldId id="265"/>
            <p14:sldId id="266"/>
            <p14:sldId id="267"/>
          </p14:sldIdLst>
        </p14:section>
        <p14:section name="Andere Religionen" id="{1cfb619b-0019-7cbb-f759-0ecd5a5332b5}">
          <p14:sldIdLst>
            <p14:sldId id="268"/>
            <p14:sldId id="269"/>
            <p14:sldId id="270"/>
            <p14:sldId id="271"/>
          </p14:sldIdLst>
        </p14:section>
        <p14:section name="Abschluss" id="{aeab4d69-4c29-e365-f1e2-fdcf51fff0e2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Karneva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Fastenzeit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Ostern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Religionen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Agenda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ext-und-Bild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Bild-und-Text-image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Drei-Karten-image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4-image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5-image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Zwei-Spalten-image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Drei-Stationen-image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Leitfrage-image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Nur-Titel-image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Abschlus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Fastenze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Relig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</a:t>
            </a:r>
            <a:endParaRPr lang="en-US" sz="18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Stat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itfrag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Frage oder Zitat einfügen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Deine Antwort / dein Fazit</a:t>
            </a: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rzbistum-koeln.de/presse_und_medien/magazin/Karneval-Ursprung-Bedeutung-und-Brauchtum-des-Karnevals/" TargetMode="External"/><Relationship Id="rId4" Type="http://schemas.openxmlformats.org/officeDocument/2006/relationships/hyperlink" Target="https://www.zdfheute.de/wissen/ostern-feiertage-karfreitag-karwoche-palmsonntag-100.html" TargetMode="External"/><Relationship Id="rId6" Type="http://schemas.openxmlformats.org/officeDocument/2006/relationships/hyperlink" Target="https://www.bpb.de/kurz-knapp/taegliche-dosis-politik/559978/ramadan/" TargetMode="External"/><Relationship Id="rId8" Type="http://schemas.openxmlformats.org/officeDocument/2006/relationships/hyperlink" Target="https://www.bpb.de/lernen/angebote/grafstat/projekt-integration/134726/m-06-06-gemeinsam-religioese-feste-feiern/" TargetMode="Externa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5" Type="http://schemas.openxmlformats.org/officeDocument/2006/relationships/image" Target="../media/image-19-3.png"/><Relationship Id="rId7" Type="http://schemas.openxmlformats.org/officeDocument/2006/relationships/image" Target="../media/image-19-4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asfläche"/>
          <p:cNvSpPr/>
          <p:nvPr/>
        </p:nvSpPr>
        <p:spPr>
          <a:xfrm>
            <a:off x="411480" y="1417320"/>
            <a:ext cx="6675120" cy="4023360"/>
          </a:xfrm>
          <a:prstGeom prst="roundRect">
            <a:avLst>
              <a:gd name="adj" fmla="val 6818"/>
            </a:avLst>
          </a:prstGeom>
          <a:solidFill>
            <a:schemeClr val="tx1">
              <a:alpha val="72000"/>
            </a:schemeClr>
          </a:solidFill>
          <a:ln w="15875">
            <a:solidFill>
              <a:schemeClr val="bg1">
                <a:alpha val="45000"/>
              </a:schemeClr>
            </a:solidFill>
            <a:prstDash val="solid"/>
          </a:ln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Feste im christlichen Jahreskreis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 &amp; Fastnacht</a:t>
            </a:r>
            <a:endParaRPr lang="en-US" sz="2000" dirty="0"/>
          </a:p>
        </p:txBody>
      </p:sp>
      <p:sp>
        <p:nvSpPr>
          <p:cNvPr id="5" name="3D-Kugel 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Von Aschermittwoch bis Ostersonntag</a:t>
            </a:r>
            <a:endParaRPr lang="en-US" sz="2000" dirty="0"/>
          </a:p>
        </p:txBody>
      </p:sp>
      <p:sp>
        <p:nvSpPr>
          <p:cNvPr id="8" name="3D-Kugel 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Ostern, Osterei &amp; Osterhase</a:t>
            </a:r>
            <a:endParaRPr lang="en-US" sz="2000" dirty="0"/>
          </a:p>
        </p:txBody>
      </p:sp>
      <p:sp>
        <p:nvSpPr>
          <p:cNvPr id="11" name="3D-Kugel 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Andere Religionen &amp; Arbeitsalltag</a:t>
            </a:r>
            <a:endParaRPr lang="en-US" sz="2000" dirty="0"/>
          </a:p>
        </p:txBody>
      </p:sp>
      <p:pic>
        <p:nvPicPr>
          <p:cNvPr id="14" name="Foto Karneval" descr="photos/collage-karn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40000">
            <a:off x="6537960" y="1325880"/>
            <a:ext cx="3108960" cy="2825496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1A1033">
                <a:alpha val="30000"/>
              </a:srgbClr>
            </a:outerShdw>
          </a:effectLst>
        </p:spPr>
      </p:pic>
      <p:pic>
        <p:nvPicPr>
          <p:cNvPr id="15" name="Foto Ostern" descr="photos/collage-oste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00000">
            <a:off x="8503920" y="3246120"/>
            <a:ext cx="3108960" cy="2825496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1A1033">
                <a:alpha val="30000"/>
              </a:srgbClr>
            </a:outerShdw>
          </a:effectLst>
        </p:spPr>
      </p:pic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karneval" descr="art/foto-karn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00200"/>
            <a:ext cx="4892040" cy="4480560"/>
          </a:xfrm>
          <a:prstGeom prst="rect">
            <a:avLst/>
          </a:prstGeom>
        </p:spPr>
      </p:pic>
      <p:sp>
        <p:nvSpPr>
          <p:cNvPr id="4" name="3D-Kugel 1"/>
          <p:cNvSpPr/>
          <p:nvPr/>
        </p:nvSpPr>
        <p:spPr>
          <a:xfrm>
            <a:off x="11906583" y="2371946"/>
            <a:ext cx="132342" cy="13234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6171" h="39703" prst="circle"/>
          </a:sp3d>
        </p:spPr>
      </p:sp>
      <p:sp>
        <p:nvSpPr>
          <p:cNvPr id="5" name="3D-Kugel 2"/>
          <p:cNvSpPr/>
          <p:nvPr/>
        </p:nvSpPr>
        <p:spPr>
          <a:xfrm>
            <a:off x="11754683" y="1491854"/>
            <a:ext cx="128434" cy="1284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4217" h="38530" prst="circle"/>
          </a:sp3d>
        </p:spPr>
      </p:sp>
      <p:sp>
        <p:nvSpPr>
          <p:cNvPr id="6" name="3D-Kugel 3"/>
          <p:cNvSpPr/>
          <p:nvPr/>
        </p:nvSpPr>
        <p:spPr>
          <a:xfrm>
            <a:off x="11872445" y="5513262"/>
            <a:ext cx="162415" cy="16241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208" h="48725" prst="circle"/>
          </a:sp3d>
        </p:spPr>
      </p:sp>
      <p:sp>
        <p:nvSpPr>
          <p:cNvPr id="7" name="3D-Kugel 4"/>
          <p:cNvSpPr/>
          <p:nvPr/>
        </p:nvSpPr>
        <p:spPr>
          <a:xfrm>
            <a:off x="11784632" y="2093340"/>
            <a:ext cx="180944" cy="18094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0472" h="54283" prst="circle"/>
          </a:sp3d>
        </p:spPr>
      </p:sp>
      <p:sp>
        <p:nvSpPr>
          <p:cNvPr id="8" name="3D-Kugel 5"/>
          <p:cNvSpPr/>
          <p:nvPr/>
        </p:nvSpPr>
        <p:spPr>
          <a:xfrm>
            <a:off x="11943007" y="2789449"/>
            <a:ext cx="130681" cy="13068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5341" h="39204" prst="circle"/>
          </a:sp3d>
        </p:spPr>
      </p:sp>
      <p:sp>
        <p:nvSpPr>
          <p:cNvPr id="9" name="3D-Kugel 6"/>
          <p:cNvSpPr/>
          <p:nvPr/>
        </p:nvSpPr>
        <p:spPr>
          <a:xfrm>
            <a:off x="11801617" y="4794621"/>
            <a:ext cx="141167" cy="141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584" h="42350" prst="circle"/>
          </a:sp3d>
        </p:spPr>
      </p:sp>
      <p:sp>
        <p:nvSpPr>
          <p:cNvPr id="10" name="3D-Kugel 7"/>
          <p:cNvSpPr/>
          <p:nvPr/>
        </p:nvSpPr>
        <p:spPr>
          <a:xfrm>
            <a:off x="11834898" y="5311404"/>
            <a:ext cx="159061" cy="15906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9531" h="47718" prst="circle"/>
          </a:sp3d>
        </p:spPr>
      </p:sp>
      <p:sp>
        <p:nvSpPr>
          <p:cNvPr id="11" name="3D-Kugel 8"/>
          <p:cNvSpPr/>
          <p:nvPr/>
        </p:nvSpPr>
        <p:spPr>
          <a:xfrm>
            <a:off x="11879799" y="1583399"/>
            <a:ext cx="131024" cy="13102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5512" h="39307" prst="circle"/>
          </a:sp3d>
        </p:spPr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Woher kommen die Namen?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Fastnacht: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„die Nacht vor dem Fasten“ – eigentlich der Dienstag vor Aschermittwoch.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meist erklärt mit dem Lateinischen „carne vale“ = „Fleisch, lebe wohl!“, denn in der Fastenzeit aß man kein Fleisch.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Aber: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ganz sicher ist das nicht. Eine andere Idee ist der „carrus navalis“, ein Schiffswagen bei Frühlingsumzügen in der Antike.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Seit wann?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Das Wort „Karneval“ gibt es seit dem 17. Jahrhundert.</a:t>
            </a:r>
            <a:endParaRPr lang="en-US" sz="1800" dirty="0"/>
          </a:p>
        </p:txBody>
      </p:sp>
      <p:sp>
        <p:nvSpPr>
          <p:cNvPr id="1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15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9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10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1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und Fastenzeit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Noch mal feiern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Rollen tauschen</a:t>
            </a:r>
            <a:endParaRPr lang="en-US" sz="22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22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Aschermittwoch ist der Karneval vorbei. Jetzt beginnt die 40-tägige Fastenzeit bis Ostern.</a:t>
            </a:r>
            <a:endParaRPr lang="en-US" sz="16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3172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arte Station 1"/>
          <p:cNvSpPr/>
          <p:nvPr/>
        </p:nvSpPr>
        <p:spPr>
          <a:xfrm>
            <a:off x="62179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4" name="3D-Kugel Symbol 12"/>
          <p:cNvSpPr/>
          <p:nvPr/>
        </p:nvSpPr>
        <p:spPr>
          <a:xfrm>
            <a:off x="1474470" y="187452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5" name="Symbol 1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093976"/>
            <a:ext cx="475488" cy="475488"/>
          </a:xfrm>
          <a:prstGeom prst="rect">
            <a:avLst/>
          </a:prstGeom>
        </p:spPr>
      </p:pic>
      <p:sp>
        <p:nvSpPr>
          <p:cNvPr id="6" name="Station 1"/>
          <p:cNvSpPr txBox="1"/>
          <p:nvPr/>
        </p:nvSpPr>
        <p:spPr>
          <a:xfrm>
            <a:off x="64008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1341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Eidbuch der Stadt Köln</a:t>
            </a:r>
            <a:endParaRPr lang="en-US" sz="18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„Fastelovend“, das kölsche Wort für Fastnacht, wird hier zum ersten Mal schriftlich erwähnt.</a:t>
            </a:r>
            <a:endParaRPr lang="en-US" sz="1500" dirty="0"/>
          </a:p>
        </p:txBody>
      </p:sp>
      <p:sp>
        <p:nvSpPr>
          <p:cNvPr id="8" name="3D-Karte Station 2"/>
          <p:cNvSpPr/>
          <p:nvPr/>
        </p:nvSpPr>
        <p:spPr>
          <a:xfrm>
            <a:off x="338785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3"/>
          <p:cNvSpPr/>
          <p:nvPr/>
        </p:nvSpPr>
        <p:spPr>
          <a:xfrm>
            <a:off x="424053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0" name="Symbol 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093976"/>
            <a:ext cx="475488" cy="475488"/>
          </a:xfrm>
          <a:prstGeom prst="rect">
            <a:avLst/>
          </a:prstGeom>
        </p:spPr>
      </p:pic>
      <p:sp>
        <p:nvSpPr>
          <p:cNvPr id="11" name="Station 2"/>
          <p:cNvSpPr txBox="1"/>
          <p:nvPr/>
        </p:nvSpPr>
        <p:spPr>
          <a:xfrm>
            <a:off x="340614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1823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Festordnendes Comitee</a:t>
            </a:r>
            <a:endParaRPr lang="en-US" sz="18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 Köln gründet sich das Komitee. Der „Held Carneval“ steht an der Spitze – daraus wird später der Prinz.</a:t>
            </a:r>
            <a:endParaRPr lang="en-US" sz="1500" dirty="0"/>
          </a:p>
        </p:txBody>
      </p:sp>
      <p:sp>
        <p:nvSpPr>
          <p:cNvPr id="13" name="3D-Karte Station 3"/>
          <p:cNvSpPr/>
          <p:nvPr/>
        </p:nvSpPr>
        <p:spPr>
          <a:xfrm>
            <a:off x="615391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4" name="3D-Kugel Symbol 14"/>
          <p:cNvSpPr/>
          <p:nvPr/>
        </p:nvSpPr>
        <p:spPr>
          <a:xfrm>
            <a:off x="7006590" y="1874520"/>
            <a:ext cx="914400" cy="9144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5" name="Symbol 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093976"/>
            <a:ext cx="475488" cy="475488"/>
          </a:xfrm>
          <a:prstGeom prst="rect">
            <a:avLst/>
          </a:prstGeom>
        </p:spPr>
      </p:pic>
      <p:sp>
        <p:nvSpPr>
          <p:cNvPr id="16" name="Station 3"/>
          <p:cNvSpPr txBox="1"/>
          <p:nvPr/>
        </p:nvSpPr>
        <p:spPr>
          <a:xfrm>
            <a:off x="617220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Weiberfastnacht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Beueler Wäscherinnen</a:t>
            </a:r>
            <a:endParaRPr lang="en-US" sz="18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Vor über 180 Jahren wehrten sich Wäscherinnen in Beuel gegen ihre harte Arbeit. Heute stürmen Frauen das Rathaus.</a:t>
            </a:r>
            <a:endParaRPr lang="en-US" sz="1500" dirty="0"/>
          </a:p>
        </p:txBody>
      </p:sp>
      <p:sp>
        <p:nvSpPr>
          <p:cNvPr id="18" name="3D-Karte Station 4"/>
          <p:cNvSpPr/>
          <p:nvPr/>
        </p:nvSpPr>
        <p:spPr>
          <a:xfrm>
            <a:off x="891997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9" name="3D-Kugel Symbol 15"/>
          <p:cNvSpPr/>
          <p:nvPr/>
        </p:nvSpPr>
        <p:spPr>
          <a:xfrm>
            <a:off x="977265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20" name="Symbol 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093976"/>
            <a:ext cx="475488" cy="475488"/>
          </a:xfrm>
          <a:prstGeom prst="rect">
            <a:avLst/>
          </a:prstGeom>
        </p:spPr>
      </p:pic>
      <p:sp>
        <p:nvSpPr>
          <p:cNvPr id="21" name="Station 4"/>
          <p:cNvSpPr txBox="1"/>
          <p:nvPr/>
        </p:nvSpPr>
        <p:spPr>
          <a:xfrm>
            <a:off x="893826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Rosenmontag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vom „Rosensonntag“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 Rosensonntag verlieh der Papst eine goldene Rose. Das Komitee tagte am Montag danach – daher der Name.</a:t>
            </a:r>
            <a:endParaRPr lang="en-US" sz="15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in Köln – ein Blick zurück</a:t>
            </a:r>
            <a:endParaRPr lang="en-US" sz="3600" dirty="0"/>
          </a:p>
        </p:txBody>
      </p:sp>
      <p:sp>
        <p:nvSpPr>
          <p:cNvPr id="2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6"/>
          <p:cNvSpPr/>
          <p:nvPr/>
        </p:nvSpPr>
        <p:spPr>
          <a:xfrm>
            <a:off x="9952143" y="5645716"/>
            <a:ext cx="264907" cy="2649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32454" h="79472" prst="circle"/>
          </a:sp3d>
        </p:spPr>
      </p:sp>
      <p:sp>
        <p:nvSpPr>
          <p:cNvPr id="3" name="3D-Kugel 17"/>
          <p:cNvSpPr/>
          <p:nvPr/>
        </p:nvSpPr>
        <p:spPr>
          <a:xfrm>
            <a:off x="8162308" y="5671121"/>
            <a:ext cx="218425" cy="218425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09213" h="65528" prst="circle"/>
          </a:sp3d>
        </p:spPr>
      </p:sp>
      <p:sp>
        <p:nvSpPr>
          <p:cNvPr id="4" name="3D-Kugel 18"/>
          <p:cNvSpPr/>
          <p:nvPr/>
        </p:nvSpPr>
        <p:spPr>
          <a:xfrm>
            <a:off x="7890732" y="2792178"/>
            <a:ext cx="151581" cy="15158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5791" h="45474" prst="circle"/>
          </a:sp3d>
        </p:spPr>
      </p:sp>
      <p:sp>
        <p:nvSpPr>
          <p:cNvPr id="5" name="3D-Kugel 19"/>
          <p:cNvSpPr/>
          <p:nvPr/>
        </p:nvSpPr>
        <p:spPr>
          <a:xfrm>
            <a:off x="10858638" y="5645076"/>
            <a:ext cx="163435" cy="16343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1718" h="49031" prst="circle"/>
          </a:sp3d>
        </p:spPr>
      </p:sp>
      <p:sp>
        <p:nvSpPr>
          <p:cNvPr id="6" name="3D-Kugel 20"/>
          <p:cNvSpPr/>
          <p:nvPr/>
        </p:nvSpPr>
        <p:spPr>
          <a:xfrm>
            <a:off x="10709022" y="4595610"/>
            <a:ext cx="115302" cy="1153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7651" h="34591" prst="circle"/>
          </a:sp3d>
        </p:spPr>
      </p:sp>
      <p:sp>
        <p:nvSpPr>
          <p:cNvPr id="7" name="3D-Kugel 21"/>
          <p:cNvSpPr/>
          <p:nvPr/>
        </p:nvSpPr>
        <p:spPr>
          <a:xfrm>
            <a:off x="9037819" y="2115977"/>
            <a:ext cx="106243" cy="1062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3122" h="31873" prst="circle"/>
          </a:sp3d>
        </p:spPr>
      </p:sp>
      <p:sp>
        <p:nvSpPr>
          <p:cNvPr id="8" name="3D-Kugel 22"/>
          <p:cNvSpPr/>
          <p:nvPr/>
        </p:nvSpPr>
        <p:spPr>
          <a:xfrm>
            <a:off x="11552354" y="810433"/>
            <a:ext cx="235318" cy="235318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7659" h="70595" prst="circle"/>
          </a:sp3d>
        </p:spPr>
      </p:sp>
      <p:sp>
        <p:nvSpPr>
          <p:cNvPr id="9" name="3D-Kugel 23"/>
          <p:cNvSpPr/>
          <p:nvPr/>
        </p:nvSpPr>
        <p:spPr>
          <a:xfrm>
            <a:off x="8043429" y="3294412"/>
            <a:ext cx="126098" cy="12609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63049" h="37829" prst="circle"/>
          </a:sp3d>
        </p:spPr>
      </p:sp>
      <p:sp>
        <p:nvSpPr>
          <p:cNvPr id="10" name="3D-Kugel 24"/>
          <p:cNvSpPr/>
          <p:nvPr/>
        </p:nvSpPr>
        <p:spPr>
          <a:xfrm>
            <a:off x="8046327" y="5935985"/>
            <a:ext cx="115388" cy="1153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694" h="34616" prst="circle"/>
          </a:sp3d>
        </p:spPr>
      </p:sp>
      <p:sp>
        <p:nvSpPr>
          <p:cNvPr id="11" name="3D-Kugel 25"/>
          <p:cNvSpPr/>
          <p:nvPr/>
        </p:nvSpPr>
        <p:spPr>
          <a:xfrm>
            <a:off x="9215346" y="4970802"/>
            <a:ext cx="302247" cy="30224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51124" h="90674" prst="circle"/>
          </a:sp3d>
        </p:spPr>
      </p:sp>
      <p:sp>
        <p:nvSpPr>
          <p:cNvPr id="12" name="3D-Kugel 26"/>
          <p:cNvSpPr/>
          <p:nvPr/>
        </p:nvSpPr>
        <p:spPr>
          <a:xfrm>
            <a:off x="9304240" y="3324126"/>
            <a:ext cx="310248" cy="31024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55124" h="93074" prst="circle"/>
          </a:sp3d>
        </p:spPr>
      </p:sp>
      <p:sp>
        <p:nvSpPr>
          <p:cNvPr id="13" name="3D-Kugel 27"/>
          <p:cNvSpPr/>
          <p:nvPr/>
        </p:nvSpPr>
        <p:spPr>
          <a:xfrm>
            <a:off x="9969786" y="3372883"/>
            <a:ext cx="238451" cy="2384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9226" h="71535" prst="circle"/>
          </a:sp3d>
        </p:spPr>
      </p:sp>
      <p:sp>
        <p:nvSpPr>
          <p:cNvPr id="14" name="3D-Kugel 28"/>
          <p:cNvSpPr/>
          <p:nvPr/>
        </p:nvSpPr>
        <p:spPr>
          <a:xfrm>
            <a:off x="8848022" y="1526833"/>
            <a:ext cx="185916" cy="18591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2958" h="55775" prst="circle"/>
          </a:sp3d>
        </p:spPr>
      </p:sp>
      <p:sp>
        <p:nvSpPr>
          <p:cNvPr id="15" name="3D-Kugel 29"/>
          <p:cNvSpPr/>
          <p:nvPr/>
        </p:nvSpPr>
        <p:spPr>
          <a:xfrm>
            <a:off x="11531244" y="319685"/>
            <a:ext cx="251702" cy="2517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5851" h="75511" prst="circle"/>
          </a:sp3d>
        </p:spPr>
      </p:sp>
      <p:sp>
        <p:nvSpPr>
          <p:cNvPr id="16" name="3D-Kugel 30"/>
          <p:cNvSpPr/>
          <p:nvPr/>
        </p:nvSpPr>
        <p:spPr>
          <a:xfrm>
            <a:off x="7851230" y="2293810"/>
            <a:ext cx="297126" cy="297126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8563" h="89138" prst="circle"/>
          </a:sp3d>
        </p:spPr>
      </p:sp>
      <p:sp>
        <p:nvSpPr>
          <p:cNvPr id="17" name="3D-Kugel 31"/>
          <p:cNvSpPr/>
          <p:nvPr/>
        </p:nvSpPr>
        <p:spPr>
          <a:xfrm>
            <a:off x="11368675" y="3989250"/>
            <a:ext cx="183504" cy="18350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1752" h="55051" prst="circle"/>
          </a:sp3d>
        </p:spPr>
      </p:sp>
      <p:sp>
        <p:nvSpPr>
          <p:cNvPr id="18" name="3D-Kugel 32"/>
          <p:cNvSpPr/>
          <p:nvPr/>
        </p:nvSpPr>
        <p:spPr>
          <a:xfrm>
            <a:off x="7719701" y="1703481"/>
            <a:ext cx="247639" cy="247639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3820" h="74292" prst="circle"/>
          </a:sp3d>
        </p:spPr>
      </p:sp>
      <p:sp>
        <p:nvSpPr>
          <p:cNvPr id="19" name="3D-Kugel 33"/>
          <p:cNvSpPr/>
          <p:nvPr/>
        </p:nvSpPr>
        <p:spPr>
          <a:xfrm>
            <a:off x="10707544" y="4243425"/>
            <a:ext cx="113104" cy="1131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6552" h="33931" prst="circle"/>
          </a:sp3d>
        </p:spPr>
      </p:sp>
      <p:sp>
        <p:nvSpPr>
          <p:cNvPr id="20" name="3D-Kugel 34"/>
          <p:cNvSpPr/>
          <p:nvPr/>
        </p:nvSpPr>
        <p:spPr>
          <a:xfrm>
            <a:off x="9816976" y="1745023"/>
            <a:ext cx="116702" cy="11670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8351" h="35011" prst="circle"/>
          </a:sp3d>
        </p:spPr>
      </p:sp>
      <p:sp>
        <p:nvSpPr>
          <p:cNvPr id="21" name="3D-Kugel 35"/>
          <p:cNvSpPr/>
          <p:nvPr/>
        </p:nvSpPr>
        <p:spPr>
          <a:xfrm>
            <a:off x="10848410" y="3017643"/>
            <a:ext cx="119751" cy="119751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9876" h="35925" prst="circle"/>
          </a:sp3d>
        </p:spPr>
      </p:sp>
      <p:sp>
        <p:nvSpPr>
          <p:cNvPr id="22" name="3D-Kugel 36"/>
          <p:cNvSpPr/>
          <p:nvPr/>
        </p:nvSpPr>
        <p:spPr>
          <a:xfrm>
            <a:off x="11325051" y="4380101"/>
            <a:ext cx="221308" cy="22130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0654" h="66392" prst="circle"/>
          </a:sp3d>
        </p:spPr>
      </p:sp>
      <p:sp>
        <p:nvSpPr>
          <p:cNvPr id="23" name="3D-Kugel 37"/>
          <p:cNvSpPr/>
          <p:nvPr/>
        </p:nvSpPr>
        <p:spPr>
          <a:xfrm>
            <a:off x="9081953" y="2369884"/>
            <a:ext cx="282692" cy="28269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41346" h="84808" prst="circle"/>
          </a:sp3d>
        </p:spPr>
      </p:sp>
      <p:sp>
        <p:nvSpPr>
          <p:cNvPr id="24" name="3D-Kugel Kapitelsymbol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25" name="Kapitelsymb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23160"/>
            <a:ext cx="1645920" cy="16459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7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Der Weg von Aschermittwoch bis Ostersonntag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3172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arte Station 1"/>
          <p:cNvSpPr/>
          <p:nvPr/>
        </p:nvSpPr>
        <p:spPr>
          <a:xfrm>
            <a:off x="62179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4" name="3D-Kugel Symbol 38"/>
          <p:cNvSpPr/>
          <p:nvPr/>
        </p:nvSpPr>
        <p:spPr>
          <a:xfrm>
            <a:off x="1474470" y="187452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5" name="Symbol 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093976"/>
            <a:ext cx="475488" cy="475488"/>
          </a:xfrm>
          <a:prstGeom prst="rect">
            <a:avLst/>
          </a:prstGeom>
        </p:spPr>
      </p:pic>
      <p:sp>
        <p:nvSpPr>
          <p:cNvPr id="6" name="Station 1"/>
          <p:cNvSpPr txBox="1"/>
          <p:nvPr/>
        </p:nvSpPr>
        <p:spPr>
          <a:xfrm>
            <a:off x="64008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Fastenzeit</a:t>
            </a:r>
            <a:endParaRPr lang="en-US" sz="18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500" dirty="0"/>
          </a:p>
        </p:txBody>
      </p:sp>
      <p:sp>
        <p:nvSpPr>
          <p:cNvPr id="8" name="3D-Karte Station 2"/>
          <p:cNvSpPr/>
          <p:nvPr/>
        </p:nvSpPr>
        <p:spPr>
          <a:xfrm>
            <a:off x="338785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39"/>
          <p:cNvSpPr/>
          <p:nvPr/>
        </p:nvSpPr>
        <p:spPr>
          <a:xfrm>
            <a:off x="4240530" y="1874520"/>
            <a:ext cx="914400" cy="9144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0" name="Symbol 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093976"/>
            <a:ext cx="475488" cy="475488"/>
          </a:xfrm>
          <a:prstGeom prst="rect">
            <a:avLst/>
          </a:prstGeom>
        </p:spPr>
      </p:pic>
      <p:sp>
        <p:nvSpPr>
          <p:cNvPr id="11" name="Station 2"/>
          <p:cNvSpPr txBox="1"/>
          <p:nvPr/>
        </p:nvSpPr>
        <p:spPr>
          <a:xfrm>
            <a:off x="340614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Karwoche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 Palmsonntag</a:t>
            </a:r>
            <a:endParaRPr lang="en-US" sz="18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Jesus zieht auf einem Esel in Jerusalem ein und wird bejubelt. „Kar“ heißt Klage oder Trauer: Christen denken an sein Leiden.</a:t>
            </a:r>
            <a:endParaRPr lang="en-US" sz="1500" dirty="0"/>
          </a:p>
        </p:txBody>
      </p:sp>
      <p:sp>
        <p:nvSpPr>
          <p:cNvPr id="13" name="3D-Karte Station 3"/>
          <p:cNvSpPr/>
          <p:nvPr/>
        </p:nvSpPr>
        <p:spPr>
          <a:xfrm>
            <a:off x="615391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4" name="3D-Kugel Symbol 40"/>
          <p:cNvSpPr/>
          <p:nvPr/>
        </p:nvSpPr>
        <p:spPr>
          <a:xfrm>
            <a:off x="700659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5" name="Symbol 4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093976"/>
            <a:ext cx="475488" cy="475488"/>
          </a:xfrm>
          <a:prstGeom prst="rect">
            <a:avLst/>
          </a:prstGeom>
        </p:spPr>
      </p:pic>
      <p:sp>
        <p:nvSpPr>
          <p:cNvPr id="16" name="Station 3"/>
          <p:cNvSpPr txBox="1"/>
          <p:nvPr/>
        </p:nvSpPr>
        <p:spPr>
          <a:xfrm>
            <a:off x="617220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Karfreitag</a:t>
            </a:r>
            <a:endParaRPr lang="en-US" sz="18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Gründonnerstag: letztes Abendmahl mit den Jüngern. Karfreitag: Kreuzigung und Tod Jesu – Gottesdienste um 15 Uhr.</a:t>
            </a:r>
            <a:endParaRPr lang="en-US" sz="1500" dirty="0"/>
          </a:p>
        </p:txBody>
      </p:sp>
      <p:sp>
        <p:nvSpPr>
          <p:cNvPr id="18" name="3D-Karte Station 4"/>
          <p:cNvSpPr/>
          <p:nvPr/>
        </p:nvSpPr>
        <p:spPr>
          <a:xfrm>
            <a:off x="8919972" y="2834640"/>
            <a:ext cx="2619756" cy="2514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9" name="3D-Kugel Symbol 41"/>
          <p:cNvSpPr/>
          <p:nvPr/>
        </p:nvSpPr>
        <p:spPr>
          <a:xfrm>
            <a:off x="977265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20" name="Symbol 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093976"/>
            <a:ext cx="475488" cy="475488"/>
          </a:xfrm>
          <a:prstGeom prst="rect">
            <a:avLst/>
          </a:prstGeom>
        </p:spPr>
      </p:pic>
      <p:sp>
        <p:nvSpPr>
          <p:cNvPr id="21" name="Station 4"/>
          <p:cNvSpPr txBox="1"/>
          <p:nvPr/>
        </p:nvSpPr>
        <p:spPr>
          <a:xfrm>
            <a:off x="893826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Auferstehung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Christen feiern, dass Jesus von den Toten auferstanden ist. Das höchste Fest im Christentum.</a:t>
            </a:r>
            <a:endParaRPr lang="en-US" sz="15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Von Aschermittwoch bis Ostersonntag</a:t>
            </a:r>
            <a:endParaRPr lang="en-US" sz="3600" dirty="0"/>
          </a:p>
        </p:txBody>
      </p:sp>
      <p:sp>
        <p:nvSpPr>
          <p:cNvPr id="2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Erzbistum Köln;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Das Fest der Auferstehung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ostern" descr="art/foto-ost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892040" cy="4480560"/>
          </a:xfrm>
          <a:prstGeom prst="rect">
            <a:avLst/>
          </a:prstGeom>
        </p:spPr>
      </p:pic>
      <p:sp>
        <p:nvSpPr>
          <p:cNvPr id="4" name="3D-Ei 42"/>
          <p:cNvSpPr/>
          <p:nvPr/>
        </p:nvSpPr>
        <p:spPr>
          <a:xfrm rot="600000">
            <a:off x="11567160" y="1600200"/>
            <a:ext cx="411480" cy="534924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05740" h="123444" prst="circle"/>
          </a:sp3d>
        </p:spPr>
      </p:sp>
      <p:sp>
        <p:nvSpPr>
          <p:cNvPr id="5" name="Glanzlicht 43"/>
          <p:cNvSpPr/>
          <p:nvPr/>
        </p:nvSpPr>
        <p:spPr>
          <a:xfrm rot="-1200000">
            <a:off x="11649456" y="1653692"/>
            <a:ext cx="131674" cy="10698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44"/>
          <p:cNvSpPr/>
          <p:nvPr/>
        </p:nvSpPr>
        <p:spPr>
          <a:xfrm rot="-600000">
            <a:off x="11704320" y="2240280"/>
            <a:ext cx="310896" cy="40416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55448" h="93269" prst="circle"/>
          </a:sp3d>
        </p:spPr>
      </p:sp>
      <p:sp>
        <p:nvSpPr>
          <p:cNvPr id="7" name="Glanzlicht 45"/>
          <p:cNvSpPr/>
          <p:nvPr/>
        </p:nvSpPr>
        <p:spPr>
          <a:xfrm rot="-2400000">
            <a:off x="11766499" y="2280696"/>
            <a:ext cx="99487" cy="8083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Ei 46"/>
          <p:cNvSpPr/>
          <p:nvPr/>
        </p:nvSpPr>
        <p:spPr>
          <a:xfrm rot="480000">
            <a:off x="11567160" y="2743200"/>
            <a:ext cx="274320" cy="356616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" h="82296" prst="circle"/>
          </a:sp3d>
        </p:spPr>
      </p:sp>
      <p:sp>
        <p:nvSpPr>
          <p:cNvPr id="9" name="Glanzlicht 47"/>
          <p:cNvSpPr/>
          <p:nvPr/>
        </p:nvSpPr>
        <p:spPr>
          <a:xfrm rot="-1320000">
            <a:off x="11622024" y="2778862"/>
            <a:ext cx="87782" cy="7132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feiern Christen an Ostern?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Das wichtigste Fest: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Ostern ist das älteste und höchste Fest der Christen.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Auferstehung: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Jesus starb am Kreuz – Christen glauben, dass er von den Toten auferstanden ist.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Hoffnung: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Der Tod hat nicht das letzte Wort. Ostern steht für neues Leben.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Beweglicher Feiertag: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immer der Sonntag nach dem ersten Vollmond im Frühling.</a:t>
            </a:r>
            <a:endParaRPr lang="en-US" sz="1800" dirty="0"/>
          </a:p>
        </p:txBody>
      </p:sp>
      <p:sp>
        <p:nvSpPr>
          <p:cNvPr id="1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3D-Karte Tag 1"/>
          <p:cNvSpPr/>
          <p:nvPr/>
        </p:nvSpPr>
        <p:spPr>
          <a:xfrm>
            <a:off x="603504" y="3063240"/>
            <a:ext cx="2103120" cy="214884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4" name="3D-Ei 48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5" name="Glanzlicht 49"/>
          <p:cNvSpPr/>
          <p:nvPr/>
        </p:nvSpPr>
        <p:spPr>
          <a:xfrm rot="-1800000">
            <a:off x="1424635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Einzug Jesu in Jerusalem auf einem Esel. Die Menschen jubeln ihm zu.</a:t>
            </a:r>
            <a:endParaRPr lang="en-US" sz="1400" dirty="0"/>
          </a:p>
        </p:txBody>
      </p:sp>
      <p:sp>
        <p:nvSpPr>
          <p:cNvPr id="9" name="3D-Karte Tag 2"/>
          <p:cNvSpPr/>
          <p:nvPr/>
        </p:nvSpPr>
        <p:spPr>
          <a:xfrm>
            <a:off x="2816352" y="3063240"/>
            <a:ext cx="2103120" cy="214884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0" name="3D-Ei 50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1" name="Glanzlicht 51"/>
          <p:cNvSpPr/>
          <p:nvPr/>
        </p:nvSpPr>
        <p:spPr>
          <a:xfrm rot="-1800000">
            <a:off x="3637483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Letztes Abendmahl mit den Jüngern. „Grün“ kommt wohl von einem alten Wort für Weinen.</a:t>
            </a:r>
            <a:endParaRPr lang="en-US" sz="1400" dirty="0"/>
          </a:p>
        </p:txBody>
      </p:sp>
      <p:sp>
        <p:nvSpPr>
          <p:cNvPr id="15" name="3D-Karte Tag 3"/>
          <p:cNvSpPr/>
          <p:nvPr/>
        </p:nvSpPr>
        <p:spPr>
          <a:xfrm>
            <a:off x="5029200" y="3063240"/>
            <a:ext cx="2103120" cy="214884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6" name="3D-Ei 52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7" name="Glanzlicht 53"/>
          <p:cNvSpPr/>
          <p:nvPr/>
        </p:nvSpPr>
        <p:spPr>
          <a:xfrm rot="-1800000">
            <a:off x="5850331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20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Kreuzigung und Tod Jesu. Strenger Fast- und Bußtag.</a:t>
            </a:r>
            <a:endParaRPr lang="en-US" sz="1400" dirty="0"/>
          </a:p>
        </p:txBody>
      </p:sp>
      <p:sp>
        <p:nvSpPr>
          <p:cNvPr id="21" name="3D-Karte Tag 4"/>
          <p:cNvSpPr/>
          <p:nvPr/>
        </p:nvSpPr>
        <p:spPr>
          <a:xfrm>
            <a:off x="7242048" y="3063240"/>
            <a:ext cx="2103120" cy="214884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22" name="3D-Ei 54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3" name="Glanzlicht 55"/>
          <p:cNvSpPr/>
          <p:nvPr/>
        </p:nvSpPr>
        <p:spPr>
          <a:xfrm rot="-1800000">
            <a:off x="8063179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Karsamstag</a:t>
            </a:r>
            <a:endParaRPr lang="en-US" sz="1700" dirty="0"/>
          </a:p>
        </p:txBody>
      </p:sp>
      <p:sp>
        <p:nvSpPr>
          <p:cNvPr id="26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Tag der Grabesruhe Jesu.</a:t>
            </a:r>
            <a:endParaRPr lang="en-US" sz="1400" dirty="0"/>
          </a:p>
        </p:txBody>
      </p:sp>
      <p:sp>
        <p:nvSpPr>
          <p:cNvPr id="27" name="3D-Karte Tag 5"/>
          <p:cNvSpPr/>
          <p:nvPr/>
        </p:nvSpPr>
        <p:spPr>
          <a:xfrm>
            <a:off x="9454896" y="3063240"/>
            <a:ext cx="2103120" cy="2148840"/>
          </a:xfrm>
          <a:prstGeom prst="roundRect">
            <a:avLst>
              <a:gd name="adj" fmla="val 956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4460" dist="53340" dir="5400000">
              <a:srgbClr val="1A1033">
                <a:alpha val="154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28" name="3D-Ei 56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9" name="Glanzlicht 57"/>
          <p:cNvSpPr/>
          <p:nvPr/>
        </p:nvSpPr>
        <p:spPr>
          <a:xfrm rot="-1800000">
            <a:off x="10276027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Auferstehung Jesu – Höhepunkt des Kirchenjahres.</a:t>
            </a:r>
            <a:endParaRPr lang="en-US" sz="1400" dirty="0"/>
          </a:p>
        </p:txBody>
      </p:sp>
      <p:sp>
        <p:nvSpPr>
          <p:cNvPr id="3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 im Detail</a:t>
            </a:r>
            <a:endParaRPr lang="en-US" sz="3600" dirty="0"/>
          </a:p>
        </p:txBody>
      </p:sp>
      <p:sp>
        <p:nvSpPr>
          <p:cNvPr id="3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Osterei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Fotorahmen Osterei"/>
          <p:cNvSpPr/>
          <p:nvPr/>
        </p:nvSpPr>
        <p:spPr>
          <a:xfrm>
            <a:off x="822960" y="1709928"/>
            <a:ext cx="877824" cy="877824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</p:spPr>
      </p:sp>
      <p:pic>
        <p:nvPicPr>
          <p:cNvPr id="4" name="Foto Osterei" descr="photos/eier-r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764792"/>
            <a:ext cx="768096" cy="768096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</a:t>
            </a:r>
            <a:endParaRPr lang="en-US" sz="2600" dirty="0"/>
          </a:p>
        </p:txBody>
      </p:sp>
      <p:sp>
        <p:nvSpPr>
          <p:cNvPr id="6" name="3D-Karte Etikett Osterei"/>
          <p:cNvSpPr/>
          <p:nvPr/>
        </p:nvSpPr>
        <p:spPr>
          <a:xfrm>
            <a:off x="393192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7" name="Text 4"/>
          <p:cNvSpPr txBox="1"/>
          <p:nvPr/>
        </p:nvSpPr>
        <p:spPr>
          <a:xfrm>
            <a:off x="393192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religiös</a:t>
            </a:r>
            <a:endParaRPr lang="en-US" sz="1400" dirty="0"/>
          </a:p>
        </p:txBody>
      </p:sp>
      <p:sp>
        <p:nvSpPr>
          <p:cNvPr id="8" name="3D-Karte Osterhase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Fotorahmen Osterhase"/>
          <p:cNvSpPr/>
          <p:nvPr/>
        </p:nvSpPr>
        <p:spPr>
          <a:xfrm>
            <a:off x="6446520" y="1709928"/>
            <a:ext cx="877824" cy="877824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</p:spPr>
      </p:sp>
      <p:pic>
        <p:nvPicPr>
          <p:cNvPr id="10" name="Foto Osterhase" descr="photos/hase-ru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1764792"/>
            <a:ext cx="768096" cy="768096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52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2" name="3D-Karte Etikett Osterhase"/>
          <p:cNvSpPr/>
          <p:nvPr/>
        </p:nvSpPr>
        <p:spPr>
          <a:xfrm>
            <a:off x="955548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13" name="Text 9"/>
          <p:cNvSpPr txBox="1"/>
          <p:nvPr/>
        </p:nvSpPr>
        <p:spPr>
          <a:xfrm>
            <a:off x="955548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kulturell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 &amp; Osterhase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Das Ei ist ein Zeichen für Leben.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Für Christen steht es für die Auferstehung Jesu.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religiöser Ursprung, der heute auch ein Volksbrauch ist.</a:t>
            </a:r>
            <a:endParaRPr lang="en-US" sz="17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Kommt in der Ostergeschichte der Bibel nicht vor (eigene Einschätzung).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Wird in den angegebenen Quellen nicht erklärt.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eher ein kultureller Brauch.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Fazit: Das Osterei hat eine christliche Bedeutung – der Osterhase ist eher ein kultureller Brauch.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58"/>
          <p:cNvSpPr/>
          <p:nvPr/>
        </p:nvSpPr>
        <p:spPr>
          <a:xfrm>
            <a:off x="11271659" y="699371"/>
            <a:ext cx="302823" cy="30282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1412" h="90847" prst="circle"/>
          </a:sp3d>
        </p:spPr>
      </p:sp>
      <p:sp>
        <p:nvSpPr>
          <p:cNvPr id="3" name="3D-Kugel 59"/>
          <p:cNvSpPr/>
          <p:nvPr/>
        </p:nvSpPr>
        <p:spPr>
          <a:xfrm>
            <a:off x="11322853" y="1126452"/>
            <a:ext cx="185165" cy="185165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583" h="55550" prst="circle"/>
          </a:sp3d>
        </p:spPr>
      </p:sp>
      <p:sp>
        <p:nvSpPr>
          <p:cNvPr id="4" name="3D-Kugel 60"/>
          <p:cNvSpPr/>
          <p:nvPr/>
        </p:nvSpPr>
        <p:spPr>
          <a:xfrm>
            <a:off x="9695728" y="4086472"/>
            <a:ext cx="179224" cy="17922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9612" h="53767" prst="circle"/>
          </a:sp3d>
        </p:spPr>
      </p:sp>
      <p:sp>
        <p:nvSpPr>
          <p:cNvPr id="5" name="3D-Kugel 61"/>
          <p:cNvSpPr/>
          <p:nvPr/>
        </p:nvSpPr>
        <p:spPr>
          <a:xfrm>
            <a:off x="8169724" y="6040574"/>
            <a:ext cx="146317" cy="14631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3159" h="43895" prst="circle"/>
          </a:sp3d>
        </p:spPr>
      </p:sp>
      <p:sp>
        <p:nvSpPr>
          <p:cNvPr id="6" name="3D-Kugel 62"/>
          <p:cNvSpPr/>
          <p:nvPr/>
        </p:nvSpPr>
        <p:spPr>
          <a:xfrm>
            <a:off x="8415113" y="3318187"/>
            <a:ext cx="185504" cy="1855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752" h="55651" prst="circle"/>
          </a:sp3d>
        </p:spPr>
      </p:sp>
      <p:sp>
        <p:nvSpPr>
          <p:cNvPr id="7" name="3D-Kugel 63"/>
          <p:cNvSpPr/>
          <p:nvPr/>
        </p:nvSpPr>
        <p:spPr>
          <a:xfrm>
            <a:off x="8100316" y="4720667"/>
            <a:ext cx="158101" cy="158101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051" h="47430" prst="circle"/>
          </a:sp3d>
        </p:spPr>
      </p:sp>
      <p:sp>
        <p:nvSpPr>
          <p:cNvPr id="8" name="3D-Kugel 64"/>
          <p:cNvSpPr/>
          <p:nvPr/>
        </p:nvSpPr>
        <p:spPr>
          <a:xfrm>
            <a:off x="8894107" y="456482"/>
            <a:ext cx="163167" cy="163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584" h="48950" prst="circle"/>
          </a:sp3d>
        </p:spPr>
      </p:sp>
      <p:sp>
        <p:nvSpPr>
          <p:cNvPr id="9" name="3D-Kugel 65"/>
          <p:cNvSpPr/>
          <p:nvPr/>
        </p:nvSpPr>
        <p:spPr>
          <a:xfrm>
            <a:off x="8417912" y="5287084"/>
            <a:ext cx="299763" cy="2997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9882" h="89929" prst="circle"/>
          </a:sp3d>
        </p:spPr>
      </p:sp>
      <p:sp>
        <p:nvSpPr>
          <p:cNvPr id="10" name="3D-Kugel 66"/>
          <p:cNvSpPr/>
          <p:nvPr/>
        </p:nvSpPr>
        <p:spPr>
          <a:xfrm>
            <a:off x="8427863" y="3657313"/>
            <a:ext cx="191460" cy="19146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5730" h="57438" prst="circle"/>
          </a:sp3d>
        </p:spPr>
      </p:sp>
      <p:sp>
        <p:nvSpPr>
          <p:cNvPr id="11" name="3D-Kugel 67"/>
          <p:cNvSpPr/>
          <p:nvPr/>
        </p:nvSpPr>
        <p:spPr>
          <a:xfrm>
            <a:off x="10538623" y="3972227"/>
            <a:ext cx="175063" cy="1750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7532" h="52519" prst="circle"/>
          </a:sp3d>
        </p:spPr>
      </p:sp>
      <p:sp>
        <p:nvSpPr>
          <p:cNvPr id="12" name="3D-Kugel 68"/>
          <p:cNvSpPr/>
          <p:nvPr/>
        </p:nvSpPr>
        <p:spPr>
          <a:xfrm>
            <a:off x="8392856" y="2755594"/>
            <a:ext cx="111888" cy="1118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5944" h="33566" prst="circle"/>
          </a:sp3d>
        </p:spPr>
      </p:sp>
      <p:sp>
        <p:nvSpPr>
          <p:cNvPr id="13" name="3D-Kugel 69"/>
          <p:cNvSpPr/>
          <p:nvPr/>
        </p:nvSpPr>
        <p:spPr>
          <a:xfrm>
            <a:off x="11776562" y="2523389"/>
            <a:ext cx="100994" cy="10099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50497" h="30298" prst="circle"/>
          </a:sp3d>
        </p:spPr>
      </p:sp>
      <p:sp>
        <p:nvSpPr>
          <p:cNvPr id="14" name="3D-Kugel 70"/>
          <p:cNvSpPr/>
          <p:nvPr/>
        </p:nvSpPr>
        <p:spPr>
          <a:xfrm>
            <a:off x="10047516" y="5766867"/>
            <a:ext cx="241443" cy="24144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0722" h="72433" prst="circle"/>
          </a:sp3d>
        </p:spPr>
      </p:sp>
      <p:sp>
        <p:nvSpPr>
          <p:cNvPr id="15" name="3D-Kugel 71"/>
          <p:cNvSpPr/>
          <p:nvPr/>
        </p:nvSpPr>
        <p:spPr>
          <a:xfrm>
            <a:off x="9253206" y="3016992"/>
            <a:ext cx="156804" cy="1568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8402" h="47041" prst="circle"/>
          </a:sp3d>
        </p:spPr>
      </p:sp>
      <p:sp>
        <p:nvSpPr>
          <p:cNvPr id="16" name="3D-Kugel 72"/>
          <p:cNvSpPr/>
          <p:nvPr/>
        </p:nvSpPr>
        <p:spPr>
          <a:xfrm>
            <a:off x="10852307" y="2728974"/>
            <a:ext cx="183884" cy="1838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1942" h="55165" prst="circle"/>
          </a:sp3d>
        </p:spPr>
      </p:sp>
      <p:sp>
        <p:nvSpPr>
          <p:cNvPr id="17" name="3D-Kugel 73"/>
          <p:cNvSpPr/>
          <p:nvPr/>
        </p:nvSpPr>
        <p:spPr>
          <a:xfrm>
            <a:off x="8541963" y="1417915"/>
            <a:ext cx="183997" cy="18399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999" h="55199" prst="circle"/>
          </a:sp3d>
        </p:spPr>
      </p:sp>
      <p:sp>
        <p:nvSpPr>
          <p:cNvPr id="18" name="3D-Kugel 74"/>
          <p:cNvSpPr/>
          <p:nvPr/>
        </p:nvSpPr>
        <p:spPr>
          <a:xfrm>
            <a:off x="8004152" y="1608153"/>
            <a:ext cx="256204" cy="2562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28102" h="76861" prst="circle"/>
          </a:sp3d>
        </p:spPr>
      </p:sp>
      <p:sp>
        <p:nvSpPr>
          <p:cNvPr id="19" name="3D-Kugel 75"/>
          <p:cNvSpPr/>
          <p:nvPr/>
        </p:nvSpPr>
        <p:spPr>
          <a:xfrm>
            <a:off x="10869535" y="5828138"/>
            <a:ext cx="261820" cy="26182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130910" h="78546" prst="circle"/>
          </a:sp3d>
        </p:spPr>
      </p:sp>
      <p:sp>
        <p:nvSpPr>
          <p:cNvPr id="20" name="3D-Kugel 76"/>
          <p:cNvSpPr/>
          <p:nvPr/>
        </p:nvSpPr>
        <p:spPr>
          <a:xfrm>
            <a:off x="10846634" y="4465224"/>
            <a:ext cx="299906" cy="2999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9953" h="89972" prst="circle"/>
          </a:sp3d>
        </p:spPr>
      </p:sp>
      <p:sp>
        <p:nvSpPr>
          <p:cNvPr id="21" name="3D-Kugel 77"/>
          <p:cNvSpPr/>
          <p:nvPr/>
        </p:nvSpPr>
        <p:spPr>
          <a:xfrm>
            <a:off x="9686251" y="6194465"/>
            <a:ext cx="231778" cy="23177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5889" h="69533" prst="circle"/>
          </a:sp3d>
        </p:spPr>
      </p:sp>
      <p:sp>
        <p:nvSpPr>
          <p:cNvPr id="22" name="3D-Kugel 78"/>
          <p:cNvSpPr/>
          <p:nvPr/>
        </p:nvSpPr>
        <p:spPr>
          <a:xfrm>
            <a:off x="8926211" y="1290513"/>
            <a:ext cx="156496" cy="156496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248" h="46949" prst="circle"/>
          </a:sp3d>
        </p:spPr>
      </p:sp>
      <p:sp>
        <p:nvSpPr>
          <p:cNvPr id="23" name="3D-Kugel 79"/>
          <p:cNvSpPr/>
          <p:nvPr/>
        </p:nvSpPr>
        <p:spPr>
          <a:xfrm>
            <a:off x="10245609" y="4491381"/>
            <a:ext cx="173119" cy="17311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6560" h="51936" prst="circle"/>
          </a:sp3d>
        </p:spPr>
      </p:sp>
      <p:sp>
        <p:nvSpPr>
          <p:cNvPr id="24" name="3D-Kugel 80"/>
          <p:cNvSpPr/>
          <p:nvPr/>
        </p:nvSpPr>
        <p:spPr>
          <a:xfrm>
            <a:off x="11364053" y="6175589"/>
            <a:ext cx="142963" cy="1429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1482" h="42889" prst="circle"/>
          </a:sp3d>
        </p:spPr>
      </p:sp>
      <p:sp>
        <p:nvSpPr>
          <p:cNvPr id="25" name="3D-Kugel 81"/>
          <p:cNvSpPr/>
          <p:nvPr/>
        </p:nvSpPr>
        <p:spPr>
          <a:xfrm>
            <a:off x="9846080" y="2677481"/>
            <a:ext cx="165090" cy="16509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2545" h="49527" prst="circle"/>
          </a:sp3d>
        </p:spPr>
      </p:sp>
      <p:sp>
        <p:nvSpPr>
          <p:cNvPr id="26" name="3D-Kugel 82"/>
          <p:cNvSpPr/>
          <p:nvPr/>
        </p:nvSpPr>
        <p:spPr>
          <a:xfrm>
            <a:off x="11542380" y="2796595"/>
            <a:ext cx="100814" cy="1008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407" h="30244" prst="circle"/>
          </a:sp3d>
        </p:spPr>
      </p:sp>
      <p:sp>
        <p:nvSpPr>
          <p:cNvPr id="27" name="3D-Kugel 83"/>
          <p:cNvSpPr/>
          <p:nvPr/>
        </p:nvSpPr>
        <p:spPr>
          <a:xfrm>
            <a:off x="9787550" y="2798196"/>
            <a:ext cx="286940" cy="28694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3470" h="86082" prst="circle"/>
          </a:sp3d>
        </p:spPr>
      </p:sp>
      <p:sp>
        <p:nvSpPr>
          <p:cNvPr id="28" name="3D-Kugel Symbol 84"/>
          <p:cNvSpPr/>
          <p:nvPr/>
        </p:nvSpPr>
        <p:spPr>
          <a:xfrm>
            <a:off x="8138160" y="10972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29" name="Symbol 8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5126" y="1514246"/>
            <a:ext cx="903427" cy="903427"/>
          </a:xfrm>
          <a:prstGeom prst="rect">
            <a:avLst/>
          </a:prstGeom>
        </p:spPr>
      </p:pic>
      <p:sp>
        <p:nvSpPr>
          <p:cNvPr id="30" name="3D-Kugel Symbol 85"/>
          <p:cNvSpPr/>
          <p:nvPr/>
        </p:nvSpPr>
        <p:spPr>
          <a:xfrm>
            <a:off x="9966960" y="24688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1" name="Symbol 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926" y="2885846"/>
            <a:ext cx="903427" cy="903427"/>
          </a:xfrm>
          <a:prstGeom prst="rect">
            <a:avLst/>
          </a:prstGeom>
        </p:spPr>
      </p:pic>
      <p:sp>
        <p:nvSpPr>
          <p:cNvPr id="32" name="3D-Kugel Symbol 86"/>
          <p:cNvSpPr/>
          <p:nvPr/>
        </p:nvSpPr>
        <p:spPr>
          <a:xfrm>
            <a:off x="8229600" y="393192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3" name="Symbol 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66" y="4348886"/>
            <a:ext cx="903427" cy="90342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4000" dirty="0"/>
          </a:p>
        </p:txBody>
      </p:sp>
      <p:sp>
        <p:nvSpPr>
          <p:cNvPr id="3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Ähnliche Feste: Fasten, Feiern, Gemeinschaft und Neuanfang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87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Islam</a:t>
            </a:r>
            <a:endParaRPr lang="en-US" sz="1500" dirty="0"/>
          </a:p>
        </p:txBody>
      </p:sp>
      <p:sp>
        <p:nvSpPr>
          <p:cNvPr id="6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88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8" name="Symbol 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9788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Judentum</a:t>
            </a:r>
            <a:endParaRPr lang="en-US" sz="1500" dirty="0"/>
          </a:p>
        </p:txBody>
      </p:sp>
      <p:sp>
        <p:nvSpPr>
          <p:cNvPr id="10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1" name="3D-Kugel Symbol 89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2" name="Symbol 8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69264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Hinduismus</a:t>
            </a:r>
            <a:endParaRPr lang="en-US" sz="15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Ähnliche Feste in anderen Religionen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Ramadan</a:t>
            </a:r>
            <a:endParaRPr lang="en-US" sz="22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Fastenmonat: tagsüber kein Essen und Trinken. Nach Sonnenuntergang wird das Fasten gebrochen, oft mit einer Dattel oder Wasser. Am Ende: Fest des Fastenbrechens.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600" dirty="0"/>
          </a:p>
        </p:txBody>
      </p:sp>
      <p:sp>
        <p:nvSpPr>
          <p:cNvPr id="19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20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Großes Fest im Hinduismus: zehn Tage, die ersten vier feiern die Gläubigen gemeinsam. Die Göttin Durga wird eingeladen, dabei zu sein.</a:t>
            </a:r>
            <a:endParaRPr lang="en-US" sz="1600" dirty="0"/>
          </a:p>
        </p:txBody>
      </p:sp>
      <p:sp>
        <p:nvSpPr>
          <p:cNvPr id="21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stenzeit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tx2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90"/>
          <p:cNvSpPr/>
          <p:nvPr/>
        </p:nvSpPr>
        <p:spPr>
          <a:xfrm>
            <a:off x="868680" y="1755648"/>
            <a:ext cx="777240" cy="7772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8620" h="233172" prst="circle"/>
          </a:sp3d>
        </p:spPr>
      </p:sp>
      <p:pic>
        <p:nvPicPr>
          <p:cNvPr id="4" name="Symbol 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942186"/>
            <a:ext cx="404165" cy="4041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2600" dirty="0"/>
          </a:p>
        </p:txBody>
      </p:sp>
      <p:sp>
        <p:nvSpPr>
          <p:cNvPr id="6" name="3D-Karte Etikett Fastenzeit"/>
          <p:cNvSpPr/>
          <p:nvPr/>
        </p:nvSpPr>
        <p:spPr>
          <a:xfrm>
            <a:off x="4114800" y="1938528"/>
            <a:ext cx="1508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7" name="Text 4"/>
          <p:cNvSpPr txBox="1"/>
          <p:nvPr/>
        </p:nvSpPr>
        <p:spPr>
          <a:xfrm>
            <a:off x="4114800" y="193852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Christentum</a:t>
            </a:r>
            <a:endParaRPr lang="en-US" sz="1400" dirty="0"/>
          </a:p>
        </p:txBody>
      </p:sp>
      <p:sp>
        <p:nvSpPr>
          <p:cNvPr id="8" name="3D-Karte Ramadan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91"/>
          <p:cNvSpPr/>
          <p:nvPr/>
        </p:nvSpPr>
        <p:spPr>
          <a:xfrm>
            <a:off x="6492240" y="1755648"/>
            <a:ext cx="777240" cy="7772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8620" h="233172" prst="circle"/>
          </a:sp3d>
        </p:spPr>
      </p:sp>
      <p:pic>
        <p:nvPicPr>
          <p:cNvPr id="10" name="Symbol 9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1942186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5236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Ramadan</a:t>
            </a:r>
            <a:endParaRPr lang="en-US" sz="2600" dirty="0"/>
          </a:p>
        </p:txBody>
      </p:sp>
      <p:sp>
        <p:nvSpPr>
          <p:cNvPr id="12" name="3D-Karte Etikett Ramadan"/>
          <p:cNvSpPr/>
          <p:nvPr/>
        </p:nvSpPr>
        <p:spPr>
          <a:xfrm>
            <a:off x="9738360" y="1938528"/>
            <a:ext cx="1508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13" name="Text 9"/>
          <p:cNvSpPr txBox="1"/>
          <p:nvPr/>
        </p:nvSpPr>
        <p:spPr>
          <a:xfrm>
            <a:off x="9738360" y="193852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Islam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 und Ramadan</a:t>
            </a:r>
            <a:endParaRPr lang="en-US" sz="36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Dauer: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 40 Tage von Aschermittwoch bis Ostern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Verzicht: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 früher vor allem auf Fleisch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Ende: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 Ostern, das höchste Fest der Christen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Dauer: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 ein Monat, er beginnt, wenn abends die Mondsichel sichtbar ist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Verzicht: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 tagsüber kein Essen und Trinken – Kranke, Kinder und Reisende sind befreit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bg1"/>
                </a:solidFill>
              </a:rPr>
              <a:t>Ende: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 Fest des Fastenbrechens, vorher eine Spende an Arme (Zakat-ul-fitr)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Gemeinsam: Verzicht als Vorbereitung – und am Ende ein großes Fest in Gemeinschaft.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Erzbistum Köln; ZDFheute; bpb – Ramadan; bpb – Gemeinsam (religiöse) Feste feiern</a:t>
            </a:r>
            <a:endParaRPr lang="en-US" sz="10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sten"/>
          <p:cNvSpPr/>
          <p:nvPr/>
        </p:nvSpPr>
        <p:spPr>
          <a:xfrm>
            <a:off x="54864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92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</a:t>
            </a:r>
            <a:endParaRPr lang="en-US" sz="2400" dirty="0"/>
          </a:p>
        </p:txBody>
      </p:sp>
      <p:sp>
        <p:nvSpPr>
          <p:cNvPr id="6" name="3D-Kugel Plus 1"/>
          <p:cNvSpPr/>
          <p:nvPr/>
        </p:nvSpPr>
        <p:spPr>
          <a:xfrm>
            <a:off x="389534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7" name="Text 4"/>
          <p:cNvSpPr txBox="1"/>
          <p:nvPr/>
        </p:nvSpPr>
        <p:spPr>
          <a:xfrm>
            <a:off x="389534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8" name="3D-Karte Gemeinschaft"/>
          <p:cNvSpPr/>
          <p:nvPr/>
        </p:nvSpPr>
        <p:spPr>
          <a:xfrm>
            <a:off x="445770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93"/>
          <p:cNvSpPr/>
          <p:nvPr/>
        </p:nvSpPr>
        <p:spPr>
          <a:xfrm>
            <a:off x="477774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14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774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Gemeinschaft</a:t>
            </a:r>
            <a:endParaRPr lang="en-US" sz="2400" dirty="0"/>
          </a:p>
        </p:txBody>
      </p:sp>
      <p:sp>
        <p:nvSpPr>
          <p:cNvPr id="12" name="3D-Kugel Plus 2"/>
          <p:cNvSpPr/>
          <p:nvPr/>
        </p:nvSpPr>
        <p:spPr>
          <a:xfrm>
            <a:off x="780440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13" name="Text 9"/>
          <p:cNvSpPr txBox="1"/>
          <p:nvPr/>
        </p:nvSpPr>
        <p:spPr>
          <a:xfrm>
            <a:off x="780440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14" name="3D-Karte Neuanfang"/>
          <p:cNvSpPr/>
          <p:nvPr/>
        </p:nvSpPr>
        <p:spPr>
          <a:xfrm>
            <a:off x="836676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Symbol 94"/>
          <p:cNvSpPr/>
          <p:nvPr/>
        </p:nvSpPr>
        <p:spPr>
          <a:xfrm>
            <a:off x="8686800" y="1965960"/>
            <a:ext cx="1005840" cy="10058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6" name="Symbol 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202" y="2207362"/>
            <a:ext cx="523037" cy="5230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Neuanfang</a:t>
            </a:r>
            <a:endParaRPr lang="en-US" sz="2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verbindet die Feste?</a:t>
            </a:r>
            <a:endParaRPr lang="en-US" sz="36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Fastenzeit und Ramadan: bewusster Verzicht als Vorbereitung auf ein großes Fest.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Ostern, das Fest des Fastenbrechens und Durga Puja feiert man gemeinsam mit Familie und Gemeinde.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Ostern steht für neues Leben, Jom Kippur für Umkehr und einen neuen Anfang.</a:t>
            </a:r>
            <a:endParaRPr lang="en-US" sz="1600" dirty="0"/>
          </a:p>
        </p:txBody>
      </p:sp>
      <p:sp>
        <p:nvSpPr>
          <p:cNvPr id="2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Antwort an den Kunden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95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4" name="Symbol 9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195864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Antwort an den Kunden</a:t>
            </a:r>
            <a:endParaRPr lang="en-US" sz="2400" dirty="0"/>
          </a:p>
        </p:txBody>
      </p:sp>
      <p:sp>
        <p:nvSpPr>
          <p:cNvPr id="6" name="3D-Karte Mein Ausbildungsbetrieb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96"/>
          <p:cNvSpPr/>
          <p:nvPr/>
        </p:nvSpPr>
        <p:spPr>
          <a:xfrm>
            <a:off x="6537960" y="1783080"/>
            <a:ext cx="731520" cy="7315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8" name="Symbol 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52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Mein Ausbildungsbetrieb</a:t>
            </a:r>
            <a:endParaRPr lang="en-US" sz="2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 Arbeitsalltag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Karnevalsware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Osterware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Aktionen: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Feiertage, Öffnungszeiten &amp; Dienstplan: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Glühbirne"/>
          <p:cNvSpPr/>
          <p:nvPr/>
        </p:nvSpPr>
        <p:spPr>
          <a:xfrm>
            <a:off x="5550408" y="594360"/>
            <a:ext cx="1097280" cy="109728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pic>
        <p:nvPicPr>
          <p:cNvPr id="3" name="Glühbir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04672"/>
            <a:ext cx="676656" cy="676656"/>
          </a:xfrm>
          <a:prstGeom prst="rect">
            <a:avLst/>
          </a:prstGeom>
        </p:spPr>
      </p:pic>
      <p:sp>
        <p:nvSpPr>
          <p:cNvPr id="4" name="3D-Kugel 97"/>
          <p:cNvSpPr/>
          <p:nvPr/>
        </p:nvSpPr>
        <p:spPr>
          <a:xfrm>
            <a:off x="5108842" y="5996980"/>
            <a:ext cx="121524" cy="12152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0762" h="36457" prst="circle"/>
          </a:sp3d>
        </p:spPr>
      </p:sp>
      <p:sp>
        <p:nvSpPr>
          <p:cNvPr id="5" name="3D-Kugel 98"/>
          <p:cNvSpPr/>
          <p:nvPr/>
        </p:nvSpPr>
        <p:spPr>
          <a:xfrm>
            <a:off x="5652357" y="5590207"/>
            <a:ext cx="90249" cy="90249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5125" h="27075" prst="circle"/>
          </a:sp3d>
        </p:spPr>
      </p:sp>
      <p:sp>
        <p:nvSpPr>
          <p:cNvPr id="6" name="3D-Kugel 99"/>
          <p:cNvSpPr/>
          <p:nvPr/>
        </p:nvSpPr>
        <p:spPr>
          <a:xfrm>
            <a:off x="8010963" y="5502410"/>
            <a:ext cx="98345" cy="9834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49173" h="29504" prst="circle"/>
          </a:sp3d>
        </p:spPr>
      </p:sp>
      <p:sp>
        <p:nvSpPr>
          <p:cNvPr id="7" name="3D-Kugel 100"/>
          <p:cNvSpPr/>
          <p:nvPr/>
        </p:nvSpPr>
        <p:spPr>
          <a:xfrm>
            <a:off x="5709992" y="6001995"/>
            <a:ext cx="81803" cy="8180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40902" h="24541" prst="circle"/>
          </a:sp3d>
        </p:spPr>
      </p:sp>
      <p:sp>
        <p:nvSpPr>
          <p:cNvPr id="8" name="3D-Kugel 101"/>
          <p:cNvSpPr/>
          <p:nvPr/>
        </p:nvSpPr>
        <p:spPr>
          <a:xfrm>
            <a:off x="3370781" y="5645571"/>
            <a:ext cx="86342" cy="8634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3171" h="25903" prst="circle"/>
          </a:sp3d>
        </p:spPr>
      </p:sp>
      <p:sp>
        <p:nvSpPr>
          <p:cNvPr id="9" name="3D-Kugel 102"/>
          <p:cNvSpPr/>
          <p:nvPr/>
        </p:nvSpPr>
        <p:spPr>
          <a:xfrm>
            <a:off x="5624950" y="5745893"/>
            <a:ext cx="157684" cy="1576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842" h="47305" prst="circle"/>
          </a:sp3d>
        </p:spPr>
      </p:sp>
      <p:sp>
        <p:nvSpPr>
          <p:cNvPr id="10" name="3D-Kugel 103"/>
          <p:cNvSpPr/>
          <p:nvPr/>
        </p:nvSpPr>
        <p:spPr>
          <a:xfrm>
            <a:off x="6041699" y="5533869"/>
            <a:ext cx="122091" cy="12209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046" h="36627" prst="circle"/>
          </a:sp3d>
        </p:spPr>
      </p:sp>
      <p:sp>
        <p:nvSpPr>
          <p:cNvPr id="11" name="3D-Kugel 104"/>
          <p:cNvSpPr/>
          <p:nvPr/>
        </p:nvSpPr>
        <p:spPr>
          <a:xfrm>
            <a:off x="9187216" y="5670883"/>
            <a:ext cx="135013" cy="13501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67507" h="40504" prst="circle"/>
          </a:sp3d>
        </p:spPr>
      </p:sp>
      <p:sp>
        <p:nvSpPr>
          <p:cNvPr id="12" name="3D-Kugel 105"/>
          <p:cNvSpPr/>
          <p:nvPr/>
        </p:nvSpPr>
        <p:spPr>
          <a:xfrm>
            <a:off x="8611348" y="5880056"/>
            <a:ext cx="132440" cy="13244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66220" h="39732" prst="circle"/>
          </a:sp3d>
        </p:spPr>
      </p:sp>
      <p:sp>
        <p:nvSpPr>
          <p:cNvPr id="13" name="3D-Kugel 106"/>
          <p:cNvSpPr/>
          <p:nvPr/>
        </p:nvSpPr>
        <p:spPr>
          <a:xfrm>
            <a:off x="8912863" y="5841063"/>
            <a:ext cx="160094" cy="16009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47" h="48028" prst="circle"/>
          </a:sp3d>
        </p:spPr>
      </p:sp>
      <p:sp>
        <p:nvSpPr>
          <p:cNvPr id="14" name="3D-Kugel 107"/>
          <p:cNvSpPr/>
          <p:nvPr/>
        </p:nvSpPr>
        <p:spPr>
          <a:xfrm>
            <a:off x="3667263" y="5813190"/>
            <a:ext cx="153965" cy="15396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6983" h="46190" prst="circle"/>
          </a:sp3d>
        </p:spPr>
      </p:sp>
      <p:sp>
        <p:nvSpPr>
          <p:cNvPr id="15" name="3D-Kugel 108"/>
          <p:cNvSpPr/>
          <p:nvPr/>
        </p:nvSpPr>
        <p:spPr>
          <a:xfrm>
            <a:off x="8555791" y="5962943"/>
            <a:ext cx="159775" cy="15977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888" h="47933" prst="circle"/>
          </a:sp3d>
        </p:spPr>
      </p:sp>
      <p:sp>
        <p:nvSpPr>
          <p:cNvPr id="16" name="3D-Kugel 109"/>
          <p:cNvSpPr/>
          <p:nvPr/>
        </p:nvSpPr>
        <p:spPr>
          <a:xfrm>
            <a:off x="6052018" y="5547128"/>
            <a:ext cx="113514" cy="1135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6757" h="34054" prst="circle"/>
          </a:sp3d>
        </p:spPr>
      </p:sp>
      <p:sp>
        <p:nvSpPr>
          <p:cNvPr id="17" name="3D-Kugel 110"/>
          <p:cNvSpPr/>
          <p:nvPr/>
        </p:nvSpPr>
        <p:spPr>
          <a:xfrm>
            <a:off x="704009" y="5701594"/>
            <a:ext cx="170632" cy="17063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5316" h="51190" prst="circle"/>
          </a:sp3d>
        </p:spPr>
      </p:sp>
      <p:sp>
        <p:nvSpPr>
          <p:cNvPr id="18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Symbol 111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3" name="Symbol 11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56616" cy="356616"/>
          </a:xfrm>
          <a:prstGeom prst="rect">
            <a:avLst/>
          </a:prstGeom>
        </p:spPr>
      </p:pic>
      <p:sp>
        <p:nvSpPr>
          <p:cNvPr id="4" name="Quelle 1"/>
          <p:cNvSpPr txBox="1"/>
          <p:nvPr/>
        </p:nvSpPr>
        <p:spPr>
          <a:xfrm>
            <a:off x="1463040" y="15544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700" dirty="0"/>
          </a:p>
        </p:txBody>
      </p:sp>
      <p:sp>
        <p:nvSpPr>
          <p:cNvPr id="5" name="3D-Kugel Symbol 112"/>
          <p:cNvSpPr/>
          <p:nvPr/>
        </p:nvSpPr>
        <p:spPr>
          <a:xfrm>
            <a:off x="548640" y="269748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6" name="Symbol 1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62072"/>
            <a:ext cx="356616" cy="356616"/>
          </a:xfrm>
          <a:prstGeom prst="rect">
            <a:avLst/>
          </a:prstGeom>
        </p:spPr>
      </p:pic>
      <p:sp>
        <p:nvSpPr>
          <p:cNvPr id="7" name="Quelle 2"/>
          <p:cNvSpPr txBox="1"/>
          <p:nvPr/>
        </p:nvSpPr>
        <p:spPr>
          <a:xfrm>
            <a:off x="1463040" y="265176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700" dirty="0"/>
          </a:p>
        </p:txBody>
      </p:sp>
      <p:sp>
        <p:nvSpPr>
          <p:cNvPr id="8" name="3D-Kugel Symbol 113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9" name="Symbol 1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0" name="Quelle 3"/>
          <p:cNvSpPr txBox="1"/>
          <p:nvPr/>
        </p:nvSpPr>
        <p:spPr>
          <a:xfrm>
            <a:off x="1463040" y="3749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700" dirty="0"/>
          </a:p>
        </p:txBody>
      </p:sp>
      <p:sp>
        <p:nvSpPr>
          <p:cNvPr id="11" name="3D-Kugel Symbol 114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12" name="Symbol 11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056632"/>
            <a:ext cx="356616" cy="356616"/>
          </a:xfrm>
          <a:prstGeom prst="rect">
            <a:avLst/>
          </a:prstGeom>
        </p:spPr>
      </p:pic>
      <p:sp>
        <p:nvSpPr>
          <p:cNvPr id="13" name="Quelle 4"/>
          <p:cNvSpPr txBox="1"/>
          <p:nvPr/>
        </p:nvSpPr>
        <p:spPr>
          <a:xfrm>
            <a:off x="1463040" y="48463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700" dirty="0"/>
          </a:p>
        </p:txBody>
      </p:sp>
      <p:sp>
        <p:nvSpPr>
          <p:cNvPr id="14" name="Bildquelle"/>
          <p:cNvSpPr txBox="1"/>
          <p:nvPr/>
        </p:nvSpPr>
        <p:spPr>
          <a:xfrm>
            <a:off x="1463040" y="59893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Bildquellen: Karneval- und Osterfotos (Folien 1–4, 9, 10, 12, 20) – bitte ergänzen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Quellen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asfläche"/>
          <p:cNvSpPr/>
          <p:nvPr/>
        </p:nvSpPr>
        <p:spPr>
          <a:xfrm>
            <a:off x="1828800" y="1828800"/>
            <a:ext cx="8531352" cy="2926080"/>
          </a:xfrm>
          <a:prstGeom prst="roundRect">
            <a:avLst>
              <a:gd name="adj" fmla="val 9375"/>
            </a:avLst>
          </a:prstGeom>
          <a:solidFill>
            <a:schemeClr val="tx1">
              <a:alpha val="72000"/>
            </a:schemeClr>
          </a:solidFill>
          <a:ln w="15875">
            <a:solidFill>
              <a:schemeClr val="bg1">
                <a:alpha val="45000"/>
              </a:schemeClr>
            </a:solidFill>
            <a:prstDash val="solid"/>
          </a:ln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1A1033"/>
      </a:dk1>
      <a:lt1>
        <a:srgbClr val="FFFFFF"/>
      </a:lt1>
      <a:dk2>
        <a:srgbClr val="6A3FB5"/>
      </a:dk2>
      <a:lt2>
        <a:srgbClr val="F4F0FF"/>
      </a:lt2>
      <a:accent1>
        <a:srgbClr val="FF2E63"/>
      </a:accent1>
      <a:accent2>
        <a:srgbClr val="FFB703"/>
      </a:accent2>
      <a:accent3>
        <a:srgbClr val="0FB5A6"/>
      </a:accent3>
      <a:accent4>
        <a:srgbClr val="3A6FF7"/>
      </a:accent4>
      <a:accent5>
        <a:srgbClr val="9BE3B0"/>
      </a:accent5>
      <a:accent6>
        <a:srgbClr val="FFB3D1"/>
      </a:accent6>
      <a:hlink>
        <a:srgbClr val="3A6FF7"/>
      </a:hlink>
      <a:folHlink>
        <a:srgbClr val="6A3FB5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Kirchenjahr</dc:subject>
  <dc:creator>PptxGenJS</dc:creator>
  <cp:lastModifiedBy>PptxGenJS</cp:lastModifiedBy>
  <cp:revision>1</cp:revision>
  <dcterms:created xsi:type="dcterms:W3CDTF">2026-10-14T19:40:20Z</dcterms:created>
  <dcterms:modified xsi:type="dcterms:W3CDTF">2026-10-14T19:40:20Z</dcterms:modified>
</cp:coreProperties>
</file>