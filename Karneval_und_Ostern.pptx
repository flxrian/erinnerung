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885eb6fc-8289-5768-bc5b-27be5a554571}">
          <p14:sldIdLst>
            <p14:sldId id="256"/>
            <p14:sldId id="257"/>
          </p14:sldIdLst>
        </p14:section>
        <p14:section name="Karneval" id="{4ad6b195-5055-df53-6d12-33fe6f3f4af6}">
          <p14:sldIdLst>
            <p14:sldId id="258"/>
            <p14:sldId id="259"/>
            <p14:sldId id="260"/>
          </p14:sldIdLst>
        </p14:section>
        <p14:section name="Ostern" id="{4b416ddf-11b5-41d5-a99e-1d6e97e9d25c}">
          <p14:sldIdLst>
            <p14:sldId id="261"/>
            <p14:sldId id="262"/>
            <p14:sldId id="263"/>
            <p14:sldId id="264"/>
          </p14:sldIdLst>
        </p14:section>
        <p14:section name="Andere Religionen" id="{69a89d94-5980-d5bb-1f6d-b0dd842da02b}">
          <p14:sldIdLst>
            <p14:sldId id="265"/>
            <p14:sldId id="266"/>
            <p14:sldId id="267"/>
            <p14:sldId id="268"/>
          </p14:sldIdLst>
        </p14:section>
        <p14:section name="Abschluss" id="{9b28baa7-acc2-52ec-d865-6c3a22ebe39e}">
          <p14:sldIdLst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Untertitel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spc="3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spc="300" kern="0" dirty="0">
                <a:solidFill>
                  <a:schemeClr val="bg1"/>
                </a:solidFill>
              </a:rPr>
              <a:t>Name · Klasse · Datum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Einleitung</a:t>
            </a: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rech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link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ngab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Zitat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Deine Antwort / dein Fazit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nk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Fragen?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rzbistum-koeln.de/presse_und_medien/magazin/Karneval-Ursprung-Bedeutung-und-Brauchtum-des-Karnevals/" TargetMode="External"/><Relationship Id="rId2" Type="http://schemas.openxmlformats.org/officeDocument/2006/relationships/hyperlink" Target="https://www.zdfheute.de/wissen/ostern-feiertage-karfreitag-karwoche-palmsonntag-100.html" TargetMode="External"/><Relationship Id="rId3" Type="http://schemas.openxmlformats.org/officeDocument/2006/relationships/hyperlink" Target="https://www.bpb.de/kurz-knapp/taegliche-dosis-politik/559978/ramadan/" TargetMode="External"/><Relationship Id="rId4" Type="http://schemas.openxmlformats.org/officeDocument/2006/relationships/hyperlink" Target="https://www.bpb.de/lernen/angebote/grafstat/projekt-integration/134726/m-06-06-gemeinsam-religioese-feste-feiern/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</a:t>
            </a:r>
            <a:endParaRPr lang="en-US" sz="36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FESTE IM CHRISTLICHEN JAHRESKREIS</a:t>
            </a:r>
            <a:endParaRPr lang="en-US" sz="1300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114800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453128" y="5029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617720" y="3383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INHALT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65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Karneval &amp; Fastnacht</a:t>
            </a:r>
            <a:endParaRPr lang="en-US" sz="1800" dirty="0"/>
          </a:p>
        </p:txBody>
      </p:sp>
      <p:sp>
        <p:nvSpPr>
          <p:cNvPr id="9" name="Linie"/>
          <p:cNvSpPr/>
          <p:nvPr/>
        </p:nvSpPr>
        <p:spPr>
          <a:xfrm>
            <a:off x="6080760" y="2825496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80760" y="29900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990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Ostern: Bedeutung &amp; Zeitstrahl</a:t>
            </a:r>
            <a:endParaRPr lang="en-US" sz="1800" dirty="0"/>
          </a:p>
        </p:txBody>
      </p:sp>
      <p:sp>
        <p:nvSpPr>
          <p:cNvPr id="12" name="Linie"/>
          <p:cNvSpPr/>
          <p:nvPr/>
        </p:nvSpPr>
        <p:spPr>
          <a:xfrm>
            <a:off x="6080760" y="3849624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0760" y="40142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0142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Andere Religionen</a:t>
            </a:r>
            <a:endParaRPr lang="en-US" sz="1800" dirty="0"/>
          </a:p>
        </p:txBody>
      </p:sp>
      <p:sp>
        <p:nvSpPr>
          <p:cNvPr id="15" name="Linie"/>
          <p:cNvSpPr/>
          <p:nvPr/>
        </p:nvSpPr>
        <p:spPr>
          <a:xfrm>
            <a:off x="6080760" y="4873752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80760" y="50383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50383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Arbeitsalltag bei ALDI SÜD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01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Köln" descr="p2/half-koel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NAMEN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55778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FASTNACHT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Der Name bedeutet wörtlich die „Nacht bzw. Zeit vor dem Fasten“ und verdeutlicht die direkte Abhängigkeit beider Traditionen.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KARNEVAL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Meist erklärt mit „carne vale“ = „Fleisch, lebe wohl!“, denn in der Fastenzeit aß man kein Fleisch.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ABER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Ganz sicher ist das nicht. Eine andere Idee: „carrus navalis“, ein Schiffswagen bei Frühlingsumzügen in der Antike.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SEIT WANN?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 Wort „Karneval“ gibt es seit dem 17. Jahrhundert.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kommen die Namen?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80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KARNEVAL · KIRCHE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Warum wird vor der Fastenzeit gefeiert?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Noch einmal feiern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Rollen tauschen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Mit dem Aschermittwoch ist der Karneval vorbei. Jetzt beginnt die 40-tägige Fastenzeit bis Ostern.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und Fastenzeit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02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Das Fest der Auferstehung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Ostereier" descr="p2/half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416552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754880" y="63550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919472" y="61904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BEDEUTUNG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78308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DAS HÖCHSTE FEST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Ostern ist das höchste christliche Fest.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AUFERSTEHUNG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Gefeiert wird die Auferstehung Jesu am dritten Tag nach seinem Tod am Kreuz.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KARFREITAG &amp; OSTERSONNTAG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Karfreitag ist der Todestag, Ostersonntag der Tag der Auferstehung.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WANN?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Am Sonntag nach dem ersten Frühlingsvollmond.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ÖSTERLICHE FREUDENZEIT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Sie beginnt mit der Nacht zum Ostersonntag und dauert bis Pfingsten.</a:t>
            </a:r>
            <a:endParaRPr lang="en-US" sz="105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Bedeutung von Ostern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Wikipedia, Artikel „Ostern“ (abgerufen am 12.10.2026)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2 · ZEITSTRAHL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29184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FASTENZEIT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Der Karneval ist vorbei. Im Gottesdienst gibt es ein Kreuz aus Asche auf die Stirn.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KARWOCHE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 und wird bejubelt.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ERINNERUNG AN DAS LETZTE ABENDMAHL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feiert mit seinen Jüngern das letzte Abendmahl.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 JESU CHRISTI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Todestag Jesu. Viele Gottesdienste beginnen um 15 Uhr.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 JESU CHRISTI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Das höchste christliche Fest.</a:t>
            </a:r>
            <a:endParaRPr lang="en-US" sz="1350" dirty="0"/>
          </a:p>
        </p:txBody>
      </p:sp>
      <p:sp>
        <p:nvSpPr>
          <p:cNvPr id="24" name="Linie"/>
          <p:cNvSpPr/>
          <p:nvPr/>
        </p:nvSpPr>
        <p:spPr>
          <a:xfrm>
            <a:off x="640080" y="2011680"/>
            <a:ext cx="8430768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5" name="Linie"/>
          <p:cNvSpPr/>
          <p:nvPr/>
        </p:nvSpPr>
        <p:spPr>
          <a:xfrm>
            <a:off x="640080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6" name="Linie"/>
          <p:cNvSpPr/>
          <p:nvPr/>
        </p:nvSpPr>
        <p:spPr>
          <a:xfrm>
            <a:off x="9070848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" y="1719072"/>
            <a:ext cx="8430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chemeClr val="accent1"/>
                </a:solidFill>
              </a:rPr>
              <a:t>FASTENZEIT · 40 TAGE</a:t>
            </a:r>
            <a:endParaRPr lang="en-US" sz="10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Aschermittwoch bis Ostersonntag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Mitschrift (14.10.2026); Erzbistum Köln;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4 · RELIGIÖS ODER KULTURELL?</a:t>
            </a:r>
            <a:endParaRPr lang="en-US" sz="1100" dirty="0"/>
          </a:p>
        </p:txBody>
      </p:sp>
      <p:pic>
        <p:nvPicPr>
          <p:cNvPr id="3" name="Foto Osterei" descr="p2/sq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1600200" cy="1600200"/>
          </a:xfrm>
          <a:prstGeom prst="rect">
            <a:avLst/>
          </a:prstGeom>
        </p:spPr>
      </p:pic>
      <p:sp>
        <p:nvSpPr>
          <p:cNvPr id="4" name="Rahmen"/>
          <p:cNvSpPr/>
          <p:nvPr/>
        </p:nvSpPr>
        <p:spPr>
          <a:xfrm>
            <a:off x="749808" y="1847088"/>
            <a:ext cx="1380744" cy="1380744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5146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RELIGIÖS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56616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Neubeginn: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Das Ei ist ein Symbol für Neubeginn und neues Leben.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Christentum: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Es wird mit der Auferstehung Jesu Christi verbunden.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Fastenzeit: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Eier durften nicht gegessen werden – man bewahrte sie bis Ostern auf.</a:t>
            </a:r>
            <a:endParaRPr lang="en-US" sz="1400" dirty="0"/>
          </a:p>
        </p:txBody>
      </p:sp>
      <p:pic>
        <p:nvPicPr>
          <p:cNvPr id="8" name="Foto Osterhase" descr="p2/sq-ha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37360"/>
            <a:ext cx="1600200" cy="1600200"/>
          </a:xfrm>
          <a:prstGeom prst="rect">
            <a:avLst/>
          </a:prstGeom>
        </p:spPr>
      </p:pic>
      <p:sp>
        <p:nvSpPr>
          <p:cNvPr id="9" name="Rahmen"/>
          <p:cNvSpPr/>
          <p:nvPr/>
        </p:nvSpPr>
        <p:spPr>
          <a:xfrm>
            <a:off x="6373368" y="1847088"/>
            <a:ext cx="1380744" cy="1380744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13816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KULTURELL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263640" y="356616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Maskottchen: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Der Hase ist an Ostern sehr beliebt geworden und vermittelt gute Werte.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Fruchtbarkeit: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Hasen bekommen viele Junge – ein Symbol für neues Leben.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Frühling: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Ostern fällt in die Zeit, in der die Natur wieder erwacht.</a:t>
            </a:r>
            <a:endParaRPr lang="en-US" sz="1400" dirty="0"/>
          </a:p>
        </p:txBody>
      </p:sp>
      <p:sp>
        <p:nvSpPr>
          <p:cNvPr id="13" name="Linie"/>
          <p:cNvSpPr/>
          <p:nvPr/>
        </p:nvSpPr>
        <p:spPr>
          <a:xfrm>
            <a:off x="6099048" y="1783080"/>
            <a:ext cx="0" cy="347472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54864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FAZIT  </a:t>
            </a:r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Ostern erinnert an die Auferstehung Jesu Christi. Die Bräuche um Ei und Hase entwickelten sich durch verschiedene Traditionen und Volkskultur.</a:t>
            </a:r>
            <a:endParaRPr lang="en-US" sz="11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 &amp; Osterhase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Ausarbeitung;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03 · ANDERE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RELIGIONEN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Fasten, Feiern, Gemeinschaft und Neuanfang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accent5"/>
                </a:solidFill>
              </a:rPr>
              <a:t>ISLAM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JUDENTUM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HINDUISMUS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WELTRELIGIONEN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Fastenmonat: tagsüber kein Essen und Trinken. Nach Sonnenuntergang wird das Fasten gebrochen, oft mit einer Dattel oder Wasser. Am Ende steht das Fest des Fastenbrechens.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JUDENTUM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Der Versöhnungstag zwischen Gott und dem Volk Israel – mit Fasten und Gebet. Die Synagogen sind so voll, dass viele stehen müssen.</a:t>
            </a:r>
            <a:endParaRPr lang="en-US" sz="1450" dirty="0"/>
          </a:p>
        </p:txBody>
      </p:sp>
      <p:sp>
        <p:nvSpPr>
          <p:cNvPr id="11" name="Linie"/>
          <p:cNvSpPr/>
          <p:nvPr/>
        </p:nvSpPr>
        <p:spPr>
          <a:xfrm>
            <a:off x="411480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HINDUISMUS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Großes Fest: zehn Tage, die ersten vier feiern die Gläubigen gemeinsam. Die Göttin Durga wird eingeladen, dabei zu sein.</a:t>
            </a:r>
            <a:endParaRPr lang="en-US" sz="1450" dirty="0"/>
          </a:p>
        </p:txBody>
      </p:sp>
      <p:sp>
        <p:nvSpPr>
          <p:cNvPr id="16" name="Linie"/>
          <p:cNvSpPr/>
          <p:nvPr/>
        </p:nvSpPr>
        <p:spPr>
          <a:xfrm>
            <a:off x="781812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Ähnliche Feste in anderen Religionen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ISLAM IM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 · FASTENMONAT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51760"/>
            <a:ext cx="5120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Was?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Der neunte Monat des islamischen Kalenders. Mohammed erhielt in diesem Monat die ersten Offenbarungen des Korans.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Fasten: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Von der Morgendämmerung bis Sonnenuntergang kein Essen, Trinken und Rauchen. Kinder, Kranke und Reisende sind befreit.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Suhur &amp; Iftar: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Mahlzeit vor dem Fasten – nach Sonnenuntergang Fastenbrechen, oft mit Wasser und Datteln.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Glaube &amp; Gemeinschaft: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mehr beten, im Koran lesen, spenden und abends gemeinsam essen.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Dauer: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29 oder 30 Tage – verschiebt sich jedes Jahr, weil der Kalender sich nach dem Mond richtet.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 · FEST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965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Zuckerfest (Eid al-Fitr)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651760"/>
            <a:ext cx="5120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 des Ramadan: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eines der wichtigsten Feste im Islam.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Gebet: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Der Tag beginnt mit einem besonderen Gebet in der Moschee oder auf einem Gebetsplatz.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Festessen: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besondere Gerichte und Süßigkeiten – daher der Name „Zuckerfest“.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Familie &amp; Geschenke: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Verwandte besuchen, festliche Kleidung; Kinder bekommen Geld oder kleine Geschenke.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Zakat al-Fitr: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Spende vor dem Fest, damit auch arme Menschen feiern können.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6099048" y="1737360"/>
            <a:ext cx="0" cy="44348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 und Zuckerfest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Ausarbeitung;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AUFGABE 5 · FAZIT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Drei Gemeinsamkeiten zwischen den Religionen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Fastenzeit und Ramadan: bewusster Verzicht als Vorbereitung auf ein großes Fest.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Gemeinschaft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Ostern, das Fest des Fastenbrechens und Durga Puja feiert man gemeinsam mit Familie und Gemeinde.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Neuanfang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 steht für neues Leben, Jom Kippur für Versöhnung, Umkehr und einen neuen Anfang.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verbindet die Feste?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6 · AUSGANGSSITUATION</a:t>
            </a:r>
            <a:endParaRPr lang="en-US" sz="1100" dirty="0"/>
          </a:p>
        </p:txBody>
      </p:sp>
      <p:sp>
        <p:nvSpPr>
          <p:cNvPr id="7" name="Feld Kundenantwort"/>
          <p:cNvSpPr/>
          <p:nvPr/>
        </p:nvSpPr>
        <p:spPr>
          <a:xfrm>
            <a:off x="640080" y="1691640"/>
            <a:ext cx="557784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AUFGABE 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031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Antwort an den Kunden</a:t>
            </a:r>
            <a:endParaRPr lang="en-US" sz="19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Arbeitsalltag</a:t>
            </a:r>
            <a:endParaRPr lang="en-US" sz="28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7 · MEIN AUSBILDUNGSBETRIEB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AB WANN?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Saisonware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Osterware: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ab Mitte Februar in den Filialen. Die Schoko-Hasen werden schon ab Mitte Dezember produziert und kommen Ende Januar ins Lager.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Kostüme als Aktionsware – 2026 z. B. Kinderkostüme ab 5. Februar für 6,99 €.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WAS LÄUFT?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Aktionen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Kampagne „Wer Ostern sucht, findet es bei ALDI“ (2025, TV, Kino, Radio, online), Schoko-Osterhase für 1,49 €, Preissenkungen vor Ostern.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Kamelle in Großpackungen, Berliner; 2024 brachte meinALDI Kamelle zum Mülheimer Rosenmontagszug.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11480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WANN OFFEN?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Feiertage &amp; Dienstplan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Geschlossen: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Karfreitag, Ostersonntag, Ostermontag.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Geöffnet: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Gründonnerstag und Karsamstag; Rosenmontag je nach Region.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Dienstplan: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Wer an Feiertagen arbeitet, bekommt einen Ersatzruhetag; Zuschläge regelt der Tarifvertrag.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781812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 bei ALDI SÜD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ALDI SÜD Newsroom, Blog &amp; Karnevalsseite; t-online.de; generali.de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5880" y="5486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LEITFRAGE</a:t>
            </a:r>
            <a:endParaRPr lang="en-US" sz="1100" dirty="0"/>
          </a:p>
        </p:txBody>
      </p:sp>
      <p:sp>
        <p:nvSpPr>
          <p:cNvPr id="4" name="Abdunklung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5" name="Rahmen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0899648" y="58978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Plus"/>
          <p:cNvSpPr/>
          <p:nvPr/>
        </p:nvSpPr>
        <p:spPr>
          <a:xfrm>
            <a:off x="11064240" y="57332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8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QUELLEN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600" dirty="0"/>
          </a:p>
        </p:txBody>
      </p:sp>
      <p:sp>
        <p:nvSpPr>
          <p:cNvPr id="5" name="Linie"/>
          <p:cNvSpPr/>
          <p:nvPr/>
        </p:nvSpPr>
        <p:spPr>
          <a:xfrm>
            <a:off x="640080" y="26334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432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600" dirty="0"/>
          </a:p>
        </p:txBody>
      </p:sp>
      <p:sp>
        <p:nvSpPr>
          <p:cNvPr id="8" name="Linie"/>
          <p:cNvSpPr/>
          <p:nvPr/>
        </p:nvSpPr>
        <p:spPr>
          <a:xfrm>
            <a:off x="640080" y="35478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657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657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600" dirty="0"/>
          </a:p>
        </p:txBody>
      </p:sp>
      <p:sp>
        <p:nvSpPr>
          <p:cNvPr id="11" name="Linie"/>
          <p:cNvSpPr/>
          <p:nvPr/>
        </p:nvSpPr>
        <p:spPr>
          <a:xfrm>
            <a:off x="640080" y="44622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72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5720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600" dirty="0"/>
          </a:p>
        </p:txBody>
      </p:sp>
      <p:sp>
        <p:nvSpPr>
          <p:cNvPr id="14" name="Linie"/>
          <p:cNvSpPr/>
          <p:nvPr/>
        </p:nvSpPr>
        <p:spPr>
          <a:xfrm>
            <a:off x="640080" y="53766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544068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1: Wikipedia, Artikel „Ostern“ – https://de.wikipedia.org/wiki/Ostern (abgerufen am 12.10.2026)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56967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7 (ALDI SÜD): aldi-sued.de (Newsroom, Blog, Karnevalsseite) · t-online.de · web.de · generali.de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595274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Bildquellen: Karneval- und Osterfotos – bitte ergänzen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FÜRS ZUHÖREN · FRAGEN?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 Editorial">
  <a:themeElements>
    <a:clrScheme name="Karneval und Ostern Editorial">
      <a:dk1>
        <a:srgbClr val="1C1C22"/>
      </a:dk1>
      <a:lt1>
        <a:srgbClr val="FFFFFF"/>
      </a:lt1>
      <a:dk2>
        <a:srgbClr val="6B6B76"/>
      </a:dk2>
      <a:lt2>
        <a:srgbClr val="F3F3F5"/>
      </a:lt2>
      <a:accent1>
        <a:srgbClr val="E5484D"/>
      </a:accent1>
      <a:accent2>
        <a:srgbClr val="D9D9DE"/>
      </a:accent2>
      <a:accent3>
        <a:srgbClr val="2A2A33"/>
      </a:accent3>
      <a:accent4>
        <a:srgbClr val="9A9AA5"/>
      </a:accent4>
      <a:accent5>
        <a:srgbClr val="F7B733"/>
      </a:accent5>
      <a:accent6>
        <a:srgbClr val="FFFFFF"/>
      </a:accent6>
      <a:hlink>
        <a:srgbClr val="E5484D"/>
      </a:hlink>
      <a:folHlink>
        <a:srgbClr val="6B6B76"/>
      </a:folHlink>
    </a:clrScheme>
    <a:fontScheme name="Karneval und Ostern Edito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christlichen Jahreskreis</dc:subject>
  <dc:creator>PptxGenJS</dc:creator>
  <cp:lastModifiedBy>PptxGenJS</cp:lastModifiedBy>
  <cp:revision>1</cp:revision>
  <dcterms:created xsi:type="dcterms:W3CDTF">2026-10-16T07:08:25Z</dcterms:created>
  <dcterms:modified xsi:type="dcterms:W3CDTF">2026-10-16T07:08:25Z</dcterms:modified>
</cp:coreProperties>
</file>